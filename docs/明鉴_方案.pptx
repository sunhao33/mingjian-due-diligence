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gjian_hq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gjian_hq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294B"/>
            </a:gs>
            <a:gs pos="55000">
              <a:srgbClr val="1F3864"/>
            </a:gs>
            <a:gs pos="100000">
              <a:srgbClr val="2E5FA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0F1E38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9525000" y="-381000"/>
            <a:ext cx="2857500" cy="2895600"/>
            <a:chOff x="9525000" y="-381000"/>
            <a:chExt cx="2857500" cy="2895600"/>
          </a:xfrm>
        </p:grpSpPr>
        <p:sp>
          <p:nvSpPr>
            <p:cNvPr id="3" name="Ellipse 3"/>
            <p:cNvSpPr/>
            <p:nvPr/>
          </p:nvSpPr>
          <p:spPr>
            <a:xfrm>
              <a:off x="9525000" y="-381000"/>
              <a:ext cx="2857500" cy="2857500"/>
            </a:xfrm>
            <a:prstGeom prst="ellipse">
              <a:avLst/>
            </a:prstGeom>
            <a:noFill/>
            <a:ln w="19050">
              <a:solidFill>
                <a:srgbClr val="C08A3A">
                  <a:alpha val="22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10001250" y="95250"/>
              <a:ext cx="1905000" cy="1905000"/>
            </a:xfrm>
            <a:prstGeom prst="ellipse">
              <a:avLst/>
            </a:prstGeom>
            <a:noFill/>
            <a:ln w="19050">
              <a:solidFill>
                <a:srgbClr val="C08A3A">
                  <a:alpha val="32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458450" y="552450"/>
              <a:ext cx="990600" cy="990600"/>
            </a:xfrm>
            <a:prstGeom prst="ellipse">
              <a:avLst/>
            </a:prstGeom>
            <a:solidFill>
              <a:srgbClr val="C08A3A">
                <a:alpha val="16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734800" y="2114550"/>
              <a:ext cx="152400" cy="152400"/>
            </a:xfrm>
            <a:prstGeom prst="ellipse">
              <a:avLst/>
            </a:prstGeom>
            <a:solidFill>
              <a:srgbClr val="C08A3A">
                <a:alpha val="5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1201400" y="2438400"/>
              <a:ext cx="76200" cy="7620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2171700"/>
            <a:ext cx="5858227" cy="3572256"/>
            <a:chOff x="742950" y="2171700"/>
            <a:chExt cx="5858227" cy="3572256"/>
          </a:xfrm>
        </p:grpSpPr>
        <p:sp>
          <p:nvSpPr>
            <p:cNvPr id="9" name="Rectangle 9"/>
            <p:cNvSpPr/>
            <p:nvPr/>
          </p:nvSpPr>
          <p:spPr>
            <a:xfrm>
              <a:off x="762000" y="2171700"/>
              <a:ext cx="1333500" cy="762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2950" y="2657475"/>
              <a:ext cx="585822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明鉴 · 企业财务尽调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8284" y="3499485"/>
              <a:ext cx="31344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与风险研判 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3618" y="4298632"/>
              <a:ext cx="44036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5DEEE"/>
                  </a:solidFill>
                  <a:latin typeface="Microsoft YaHei"/>
                  <a:ea typeface="Microsoft YaHei"/>
                  <a:cs typeface="Microsoft YaHei"/>
                </a:rPr>
                <a:t>上传财报 → 解析 · 计算 · 匹配 · 研判 · 报告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5045392"/>
              <a:ext cx="3540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FB3D0"/>
                  </a:solidFill>
                  <a:latin typeface="Microsoft YaHei"/>
                  <a:ea typeface="Microsoft YaHei"/>
                  <a:cs typeface="Microsoft YaHei"/>
                </a:rPr>
                <a:t>Boundless Agents（无界应用）· AI + 金融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904" y="55092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08A3A"/>
                  </a:solidFill>
                  <a:latin typeface="Microsoft YaHei"/>
                  <a:ea typeface="Microsoft YaHei"/>
                  <a:cs typeface="Microsoft YaHei"/>
                </a:rPr>
                <a:t>面向投资尽调初筛的可解释财务风险研判智能体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76250"/>
            <a:ext cx="2047174" cy="651034"/>
            <a:chOff x="571500" y="476250"/>
            <a:chExt cx="2047174" cy="651034"/>
          </a:xfrm>
        </p:grpSpPr>
        <p:sp>
          <p:nvSpPr>
            <p:cNvPr id="2" name="Rectangle 2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8858" y="5219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项目概述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5335" y="9072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一句话定位 · 五步任务闭环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3880" y="1476375"/>
            <a:ext cx="14123098" cy="293370"/>
            <a:chOff x="563880" y="1476375"/>
            <a:chExt cx="14123098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563880" y="1476375"/>
              <a:ext cx="14123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「明鉴」面向</a:t>
              </a:r>
              <a:r>
                <a:rPr lang="en-US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 xml:space="preserve"> </a:t>
              </a:r>
              <a:r>
                <a:rPr lang="zh-CN" sz="15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投资尽调初筛</a:t>
              </a:r>
              <a:r>
                <a:rPr lang="en-US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 xml:space="preserve"> </a:t>
              </a:r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场景，让 Agent 多步编排，自动完成</a:t>
              </a:r>
              <a:r>
                <a:rPr lang="en-US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 xml:space="preserve"> </a:t>
              </a:r>
              <a:r>
                <a:rPr lang="zh-CN" sz="1500" b="1" dirty="0">
                  <a:solidFill>
                    <a:srgbClr val="2E5FA3"/>
                  </a:solidFill>
                  <a:latin typeface="Microsoft YaHei"/>
                  <a:ea typeface="Microsoft YaHei"/>
                  <a:cs typeface="Microsoft YaHei"/>
                </a:rPr>
                <a:t>资料理解 → 指标计算 → 规则匹配 → 风险提示 → 投研整理</a:t>
              </a:r>
              <a:r>
                <a:rPr lang="en-US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 xml:space="preserve"> </a:t>
              </a:r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，输出可解释的尽调初筛报告。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2286000"/>
            <a:ext cx="11049000" cy="2476500"/>
            <a:chOff x="571500" y="2286000"/>
            <a:chExt cx="11049000" cy="2476500"/>
          </a:xfrm>
        </p:grpSpPr>
        <p:grpSp>
          <p:nvGrpSpPr>
            <p:cNvPr id="15" name="Group 15"/>
            <p:cNvGrpSpPr/>
            <p:nvPr/>
          </p:nvGrpSpPr>
          <p:grpSpPr>
            <a:xfrm>
              <a:off x="571500" y="2286000"/>
              <a:ext cx="2057400" cy="2476500"/>
              <a:chOff x="571500" y="2286000"/>
              <a:chExt cx="2057400" cy="2476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2286000"/>
                <a:ext cx="2057400" cy="2476500"/>
              </a:xfrm>
              <a:prstGeom prst="roundRect">
                <a:avLst>
                  <a:gd name="adj" fmla="val 6481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286000"/>
                <a:ext cx="20574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371600" y="2628900"/>
                <a:ext cx="457200" cy="457200"/>
              </a:xfrm>
              <a:prstGeom prst="ellipse">
                <a:avLst/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21087" y="27489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45530" y="3258979"/>
                <a:ext cx="90934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资料理解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70813" y="36585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解析三大报表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41488" y="38871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结构化抽取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819400" y="2286000"/>
              <a:ext cx="2057400" cy="2476500"/>
              <a:chOff x="2819400" y="2286000"/>
              <a:chExt cx="2057400" cy="2476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819400" y="2286000"/>
                <a:ext cx="2057400" cy="2476500"/>
              </a:xfrm>
              <a:prstGeom prst="roundRect">
                <a:avLst>
                  <a:gd name="adj" fmla="val 6481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2819400" y="2286000"/>
                <a:ext cx="20574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619500" y="2628900"/>
                <a:ext cx="457200" cy="457200"/>
              </a:xfrm>
              <a:prstGeom prst="ellipse">
                <a:avLst/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768987" y="27489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393430" y="3258979"/>
                <a:ext cx="90934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指标计算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340970" y="3658552"/>
                <a:ext cx="10142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偿债/盈利/营运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50517" y="3887152"/>
                <a:ext cx="7951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成长/现金流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067300" y="2286000"/>
              <a:ext cx="2057400" cy="2476500"/>
              <a:chOff x="5067300" y="2286000"/>
              <a:chExt cx="2057400" cy="2476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067300" y="2286000"/>
                <a:ext cx="2057400" cy="2476500"/>
              </a:xfrm>
              <a:prstGeom prst="roundRect">
                <a:avLst>
                  <a:gd name="adj" fmla="val 6481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5067300" y="2286000"/>
                <a:ext cx="20574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867400" y="2628900"/>
                <a:ext cx="457200" cy="457200"/>
              </a:xfrm>
              <a:prstGeom prst="ellipse">
                <a:avLst/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16887" y="27489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3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641330" y="3258979"/>
                <a:ext cx="90934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规则匹配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747890" y="3658552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规则引擎 +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666613" y="38871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行业基准比对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315200" y="2286000"/>
              <a:ext cx="2057400" cy="2476500"/>
              <a:chOff x="7315200" y="2286000"/>
              <a:chExt cx="2057400" cy="2476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315200" y="2286000"/>
                <a:ext cx="2057400" cy="2476500"/>
              </a:xfrm>
              <a:prstGeom prst="roundRect">
                <a:avLst>
                  <a:gd name="adj" fmla="val 6481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7315200" y="2286000"/>
                <a:ext cx="20574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8115300" y="2628900"/>
                <a:ext cx="457200" cy="457200"/>
              </a:xfrm>
              <a:prstGeom prst="ellipse">
                <a:avLst/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264787" y="27489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889230" y="3258979"/>
                <a:ext cx="90934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风险提示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055864" y="36585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归因分析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55864" y="38871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证据引用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9563100" y="2286000"/>
              <a:ext cx="2057400" cy="2476500"/>
              <a:chOff x="9563100" y="2286000"/>
              <a:chExt cx="2057400" cy="2476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563100" y="2286000"/>
                <a:ext cx="2057400" cy="2476500"/>
              </a:xfrm>
              <a:prstGeom prst="roundRect">
                <a:avLst>
                  <a:gd name="adj" fmla="val 6481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9563100" y="2286000"/>
                <a:ext cx="20574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10363200" y="2628900"/>
                <a:ext cx="457200" cy="457200"/>
              </a:xfrm>
              <a:prstGeom prst="ellipse">
                <a:avLst/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512687" y="27489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5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137130" y="3258979"/>
                <a:ext cx="90934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投研整理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233089" y="36585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结构化报告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374440" y="388715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可导出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71500" y="5334000"/>
            <a:ext cx="11049000" cy="952500"/>
            <a:chOff x="571500" y="5334000"/>
            <a:chExt cx="11049000" cy="952500"/>
          </a:xfrm>
        </p:grpSpPr>
        <p:sp>
          <p:nvSpPr>
            <p:cNvPr id="49" name="Rectangle 49"/>
            <p:cNvSpPr/>
            <p:nvPr/>
          </p:nvSpPr>
          <p:spPr>
            <a:xfrm>
              <a:off x="571500" y="5334000"/>
              <a:ext cx="11049000" cy="952500"/>
            </a:xfrm>
            <a:prstGeom prst="roundRect">
              <a:avLst>
                <a:gd name="adj" fmla="val 14000"/>
              </a:avLst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07161" y="5713571"/>
              <a:ext cx="106907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08A3A"/>
                  </a:solidFill>
                  <a:latin typeface="Microsoft YaHei"/>
                  <a:ea typeface="Microsoft YaHei"/>
                  <a:cs typeface="Microsoft YaHei"/>
                </a:rPr>
                <a:t xml:space="preserve">核心价值　</a:t>
              </a:r>
              <a:r>
                <a:rPr lang="en-US" sz="14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 xml:space="preserve"> </a:t>
              </a:r>
              <a:r>
                <a:rPr lang="zh-CN" sz="14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把「靠人工翻财报 + 凭经验判断」的低效、非标、易漏过程，变成</a:t>
              </a:r>
              <a:r>
                <a:rPr lang="en-US" sz="14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 xml:space="preserve"> </a:t>
              </a:r>
              <a:r>
                <a:rPr lang="zh-CN" sz="1420" b="1" dirty="0">
                  <a:solidFill>
                    <a:srgbClr val="7FB3FF"/>
                  </a:solidFill>
                  <a:latin typeface="Microsoft YaHei"/>
                  <a:ea typeface="Microsoft YaHei"/>
                  <a:cs typeface="Microsoft YaHei"/>
                </a:rPr>
                <a:t>可运行、可复现、可解释</a:t>
              </a:r>
              <a:r>
                <a:rPr lang="en-US" sz="14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 xml:space="preserve"> </a:t>
              </a:r>
              <a:r>
                <a:rPr lang="zh-CN" sz="14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的自动化任务闭环。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76250"/>
            <a:ext cx="3532302" cy="651034"/>
            <a:chOff x="571500" y="476250"/>
            <a:chExt cx="3532302" cy="651034"/>
          </a:xfrm>
        </p:grpSpPr>
        <p:sp>
          <p:nvSpPr>
            <p:cNvPr id="2" name="Rectangle 2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8858" y="5219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行业痛点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5335" y="90725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财报是尽调第一道关，人工通读低效、非标、易漏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428750"/>
            <a:ext cx="5429250" cy="2190750"/>
            <a:chOff x="571500" y="1428750"/>
            <a:chExt cx="5429250" cy="21907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429250" cy="2190750"/>
            </a:xfrm>
            <a:prstGeom prst="roundRect">
              <a:avLst>
                <a:gd name="adj" fmla="val 608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428750"/>
              <a:ext cx="95250" cy="2190750"/>
            </a:xfrm>
            <a:prstGeom prst="roundRect">
              <a:avLst>
                <a:gd name="adj" fmla="val 50000"/>
              </a:avLst>
            </a:prstGeom>
            <a:solidFill>
              <a:srgbClr val="2E5FA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17583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项目源多、初筛重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404" y="2299335"/>
              <a:ext cx="362407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投资团队面对大量 BP 与财报，财报是尽调第一道关，</a:t>
              </a:r>
              <a:br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人工通读 + 建表需数小时 / 份。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91250" y="1428750"/>
            <a:ext cx="5429250" cy="2190750"/>
            <a:chOff x="6191250" y="1428750"/>
            <a:chExt cx="5429250" cy="2190750"/>
          </a:xfrm>
        </p:grpSpPr>
        <p:sp>
          <p:nvSpPr>
            <p:cNvPr id="11" name="Rectangle 11"/>
            <p:cNvSpPr/>
            <p:nvPr/>
          </p:nvSpPr>
          <p:spPr>
            <a:xfrm>
              <a:off x="6191250" y="1428750"/>
              <a:ext cx="5429250" cy="2190750"/>
            </a:xfrm>
            <a:prstGeom prst="roundRect">
              <a:avLst>
                <a:gd name="adj" fmla="val 608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191250" y="1428750"/>
              <a:ext cx="95250" cy="2190750"/>
            </a:xfrm>
            <a:prstGeom prst="roundRect">
              <a:avLst>
                <a:gd name="adj" fmla="val 50000"/>
              </a:avLst>
            </a:prstGeom>
            <a:solidFill>
              <a:srgbClr val="2E5FA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63106" y="1758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标准不一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6154" y="2299335"/>
              <a:ext cx="27553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不同分析师的指标口径、判断标准不一，</a:t>
              </a:r>
              <a:br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初筛结论难复现、难对齐。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3905250"/>
            <a:ext cx="5429250" cy="2190750"/>
            <a:chOff x="571500" y="3905250"/>
            <a:chExt cx="5429250" cy="2190750"/>
          </a:xfrm>
        </p:grpSpPr>
        <p:sp>
          <p:nvSpPr>
            <p:cNvPr id="16" name="Rectangle 16"/>
            <p:cNvSpPr/>
            <p:nvPr/>
          </p:nvSpPr>
          <p:spPr>
            <a:xfrm>
              <a:off x="571500" y="3905250"/>
              <a:ext cx="5429250" cy="2190750"/>
            </a:xfrm>
            <a:prstGeom prst="roundRect">
              <a:avLst>
                <a:gd name="adj" fmla="val 608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3905250"/>
              <a:ext cx="95250" cy="2190750"/>
            </a:xfrm>
            <a:prstGeom prst="roundRect">
              <a:avLst>
                <a:gd name="adj" fmla="val 50000"/>
              </a:avLst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3356" y="42348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易遗漏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4775835"/>
              <a:ext cx="32125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财务粉饰、收入质量、现金流背离、商誉减值等</a:t>
              </a:r>
              <a:br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风险分散在报表各处，肉眼易漏。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91250" y="3905250"/>
            <a:ext cx="5429250" cy="2190750"/>
            <a:chOff x="6191250" y="3905250"/>
            <a:chExt cx="5429250" cy="2190750"/>
          </a:xfrm>
        </p:grpSpPr>
        <p:sp>
          <p:nvSpPr>
            <p:cNvPr id="21" name="Rectangle 21"/>
            <p:cNvSpPr/>
            <p:nvPr/>
          </p:nvSpPr>
          <p:spPr>
            <a:xfrm>
              <a:off x="6191250" y="3905250"/>
              <a:ext cx="5429250" cy="2190750"/>
            </a:xfrm>
            <a:prstGeom prst="roundRect">
              <a:avLst>
                <a:gd name="adj" fmla="val 608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91250" y="3905250"/>
              <a:ext cx="95250" cy="2190750"/>
            </a:xfrm>
            <a:prstGeom prst="roundRect">
              <a:avLst>
                <a:gd name="adj" fmla="val 50000"/>
              </a:avLst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3106" y="42348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门槛高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6154" y="4775835"/>
              <a:ext cx="32125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早期标的财务不规范，年轻投资经理经验不足，</a:t>
              </a:r>
              <a:br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判断依赖个人积累。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76250"/>
            <a:ext cx="3274924" cy="651034"/>
            <a:chOff x="571500" y="476250"/>
            <a:chExt cx="3274924" cy="651034"/>
          </a:xfrm>
        </p:grpSpPr>
        <p:sp>
          <p:nvSpPr>
            <p:cNvPr id="2" name="Rectangle 2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8858" y="52197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目标用户与价值主张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5335" y="9072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谁在用 · 为什么有价值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428750"/>
            <a:ext cx="5334000" cy="1143000"/>
            <a:chOff x="571500" y="1428750"/>
            <a:chExt cx="5334000" cy="11430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4287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2E5FA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6399" y="1782604"/>
              <a:ext cx="22493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一级市场股权投资机构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685" y="218360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对拟投项目财务健康度快速初筛，判断是否进入深度尽调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2762250"/>
            <a:ext cx="5334000" cy="1143000"/>
            <a:chOff x="571500" y="2762250"/>
            <a:chExt cx="5334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571500" y="27622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27622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2E5FA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399" y="3116104"/>
              <a:ext cx="22828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二级市场投研 / 分析师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685" y="35171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财报速读、风险筛查，辅助投资研究决策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4095750"/>
            <a:ext cx="5334000" cy="1143000"/>
            <a:chOff x="571500" y="4095750"/>
            <a:chExt cx="53340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571500" y="4095750"/>
              <a:ext cx="5334000" cy="1143000"/>
            </a:xfrm>
            <a:prstGeom prst="roundRect">
              <a:avLst>
                <a:gd name="adj" fmla="val 10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40957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2E5FA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6399" y="4449604"/>
              <a:ext cx="149085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FA / 财务顾问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685" y="485060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为项目方准备材料时自检财务风险，提升材料质量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91250" y="1238250"/>
            <a:ext cx="5619750" cy="4000500"/>
            <a:chOff x="6191250" y="1238250"/>
            <a:chExt cx="5619750" cy="4000500"/>
          </a:xfrm>
        </p:grpSpPr>
        <p:sp>
          <p:nvSpPr>
            <p:cNvPr id="21" name="Rectangle 21"/>
            <p:cNvSpPr/>
            <p:nvPr/>
          </p:nvSpPr>
          <p:spPr>
            <a:xfrm>
              <a:off x="6191250" y="1428750"/>
              <a:ext cx="5429250" cy="3810000"/>
            </a:xfrm>
            <a:prstGeom prst="roundRect">
              <a:avLst>
                <a:gd name="adj" fmla="val 4000"/>
              </a:avLst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68000" y="1238250"/>
              <a:ext cx="1143000" cy="1143000"/>
            </a:xfrm>
            <a:prstGeom prst="ellipse">
              <a:avLst/>
            </a:prstGeom>
            <a:solidFill>
              <a:srgbClr val="C08A3A">
                <a:alpha val="12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58356" y="18535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8A3A"/>
                  </a:solidFill>
                  <a:latin typeface="Microsoft YaHei"/>
                  <a:ea typeface="Microsoft YaHei"/>
                  <a:cs typeface="Microsoft YaHei"/>
                </a:rPr>
                <a:t>价值主张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0261" y="2513171"/>
              <a:ext cx="3260598" cy="602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420" dirty="0">
                  <a:solidFill>
                    <a:srgbClr val="E6ECF5"/>
                  </a:solidFill>
                  <a:latin typeface="Microsoft YaHei"/>
                  <a:ea typeface="Microsoft YaHei"/>
                  <a:cs typeface="Microsoft YaHei"/>
                </a:rPr>
                <a:t>把资深投资经理的财报尽调经验，沉淀为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可配置规则库 + 可解释推理链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0261" y="3608546"/>
              <a:ext cx="3260598" cy="926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420" dirty="0">
                  <a:solidFill>
                    <a:srgbClr val="E6ECF5"/>
                  </a:solidFill>
                  <a:latin typeface="Microsoft YaHei"/>
                  <a:ea typeface="Microsoft YaHei"/>
                  <a:cs typeface="Microsoft YaHei"/>
                </a:rPr>
                <a:t>把「财报初筛」从小时级人工通读变成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分钟级、标准化、可追溯</a:t>
              </a:r>
              <a:br/>
              <a:r>
                <a:rPr lang="zh-CN" sz="1420" dirty="0">
                  <a:solidFill>
                    <a:srgbClr val="E6ECF5"/>
                  </a:solidFill>
                  <a:latin typeface="Microsoft YaHei"/>
                  <a:ea typeface="Microsoft YaHei"/>
                  <a:cs typeface="Microsoft YaHei"/>
                </a:rPr>
                <a:t>的流程，帮投资团队更快筛掉问题标的。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76250"/>
            <a:ext cx="2463013" cy="651034"/>
            <a:chOff x="571500" y="476250"/>
            <a:chExt cx="2463013" cy="651034"/>
          </a:xfrm>
        </p:grpSpPr>
        <p:sp>
          <p:nvSpPr>
            <p:cNvPr id="2" name="Rectangle 2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8858" y="5219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产品任务闭环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5335" y="907256"/>
              <a:ext cx="2259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Demo 主路径：端到端固定工作流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1619250"/>
            <a:ext cx="11049000" cy="2476500"/>
            <a:chOff x="571500" y="1619250"/>
            <a:chExt cx="11049000" cy="2476500"/>
          </a:xfrm>
        </p:grpSpPr>
        <p:grpSp>
          <p:nvGrpSpPr>
            <p:cNvPr id="11" name="Group 11"/>
            <p:cNvGrpSpPr/>
            <p:nvPr/>
          </p:nvGrpSpPr>
          <p:grpSpPr>
            <a:xfrm>
              <a:off x="571500" y="1619250"/>
              <a:ext cx="1600200" cy="2476500"/>
              <a:chOff x="571500" y="1619250"/>
              <a:chExt cx="1600200" cy="2476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619250"/>
                <a:ext cx="1600200" cy="2476500"/>
              </a:xfrm>
              <a:prstGeom prst="roundRect">
                <a:avLst>
                  <a:gd name="adj" fmla="val 7143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71500" y="1619250"/>
                <a:ext cx="16002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1F3864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939927" y="1781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上传财报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13562" y="26408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投资经理上传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13562" y="288845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标的公司财报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400300" y="1619250"/>
              <a:ext cx="1600200" cy="2476500"/>
              <a:chOff x="2400300" y="1619250"/>
              <a:chExt cx="1600200" cy="2476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2400300" y="1619250"/>
                <a:ext cx="1600200" cy="2476500"/>
              </a:xfrm>
              <a:prstGeom prst="roundRect">
                <a:avLst>
                  <a:gd name="adj" fmla="val 7143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400300" y="1619250"/>
                <a:ext cx="16002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980754" y="17811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解析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36820" y="2640806"/>
                <a:ext cx="112716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文档/表格抽取 →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22037" y="2888456"/>
                <a:ext cx="15567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三大报表结构化 JSON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229100" y="1619250"/>
              <a:ext cx="1600200" cy="2476500"/>
              <a:chOff x="4229100" y="1619250"/>
              <a:chExt cx="1600200" cy="2476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229100" y="1619250"/>
                <a:ext cx="1600200" cy="2476500"/>
              </a:xfrm>
              <a:prstGeom prst="roundRect">
                <a:avLst>
                  <a:gd name="adj" fmla="val 7143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229100" y="1619250"/>
                <a:ext cx="16002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09554" y="17811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计算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01317" y="2640806"/>
                <a:ext cx="8557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pandas 计算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95775" y="28884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五大类财务指标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57900" y="1619250"/>
              <a:ext cx="1600200" cy="2476500"/>
              <a:chOff x="6057900" y="1619250"/>
              <a:chExt cx="1600200" cy="2476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057900" y="1619250"/>
                <a:ext cx="1600200" cy="2476500"/>
              </a:xfrm>
              <a:prstGeom prst="roundRect">
                <a:avLst>
                  <a:gd name="adj" fmla="val 7143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6057900" y="1619250"/>
                <a:ext cx="16002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2E5FA3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638354" y="17811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匹配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162492" y="2640806"/>
                <a:ext cx="13910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规则引擎 + 行业基准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99962" y="288845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命中风险规则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886700" y="1619250"/>
              <a:ext cx="1600200" cy="2476500"/>
              <a:chOff x="7886700" y="1619250"/>
              <a:chExt cx="1600200" cy="2476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886700" y="1619250"/>
                <a:ext cx="1600200" cy="2476500"/>
              </a:xfrm>
              <a:prstGeom prst="roundRect">
                <a:avLst>
                  <a:gd name="adj" fmla="val 7143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7886700" y="1619250"/>
                <a:ext cx="16002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C08A3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67154" y="17811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研判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91210" y="2640806"/>
                <a:ext cx="9911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LLM 归因分析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53375" y="28884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风险提示带证据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715500" y="1619250"/>
              <a:ext cx="1905000" cy="2476500"/>
              <a:chOff x="9715500" y="1619250"/>
              <a:chExt cx="1905000" cy="2476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9715500" y="1619250"/>
                <a:ext cx="1905000" cy="2476500"/>
              </a:xfrm>
              <a:prstGeom prst="roundRect">
                <a:avLst>
                  <a:gd name="adj" fmla="val 6000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9715500" y="1619250"/>
                <a:ext cx="19050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C08A3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448354" y="17811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输出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897105" y="2640806"/>
                <a:ext cx="15417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尽调报告：评分 + 清单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059187" y="28884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A6472"/>
                    </a:solidFill>
                    <a:latin typeface="Microsoft YaHei"/>
                    <a:ea typeface="Microsoft YaHei"/>
                    <a:cs typeface="Microsoft YaHei"/>
                  </a:rPr>
                  <a:t>+ 结论 + 免责声明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2190750" y="2857500"/>
              <a:ext cx="7467600" cy="152400"/>
              <a:chOff x="2190750" y="2857500"/>
              <a:chExt cx="7467600" cy="1524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190750" y="2857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08A3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019550" y="2857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08A3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848350" y="2857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08A3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677150" y="2857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08A3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505950" y="2857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28575">
                <a:solidFill>
                  <a:srgbClr val="C08A3A"/>
                </a:solidFill>
              </a:ln>
            </p:spPr>
          </p:sp>
        </p:grpSp>
      </p:grpSp>
      <p:grpSp>
        <p:nvGrpSpPr>
          <p:cNvPr id="54" name="Group 54"/>
          <p:cNvGrpSpPr/>
          <p:nvPr/>
        </p:nvGrpSpPr>
        <p:grpSpPr>
          <a:xfrm>
            <a:off x="571500" y="4953000"/>
            <a:ext cx="11049000" cy="1238250"/>
            <a:chOff x="571500" y="4953000"/>
            <a:chExt cx="11049000" cy="1238250"/>
          </a:xfrm>
        </p:grpSpPr>
        <p:sp>
          <p:nvSpPr>
            <p:cNvPr id="49" name="Rectangle 49"/>
            <p:cNvSpPr/>
            <p:nvPr/>
          </p:nvSpPr>
          <p:spPr>
            <a:xfrm>
              <a:off x="571500" y="4953000"/>
              <a:ext cx="11049000" cy="1238250"/>
            </a:xfrm>
            <a:prstGeom prst="roundRect">
              <a:avLst>
                <a:gd name="adj" fmla="val 10769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06399" y="5278279"/>
              <a:ext cx="15793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不是「泛问答」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7923" y="5710714"/>
              <a:ext cx="656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不依赖用户逐条提问，而是端到端执行固定尽调工作流；计算与规则判定由代码保证，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7923" y="5710714"/>
              <a:ext cx="2775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5FA3"/>
                  </a:solidFill>
                  <a:latin typeface="Microsoft YaHei"/>
                  <a:ea typeface="Microsoft YaHei"/>
                  <a:cs typeface="Microsoft YaHei"/>
                </a:rPr>
                <a:t>LLM 只做「理解 + 归因 + 表达」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7923" y="57107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，结果可复现、可审计。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76250"/>
            <a:ext cx="2935681" cy="651034"/>
            <a:chOff x="571500" y="476250"/>
            <a:chExt cx="2935681" cy="651034"/>
          </a:xfrm>
        </p:grpSpPr>
        <p:sp>
          <p:nvSpPr>
            <p:cNvPr id="2" name="Rectangle 2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8858" y="5219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与赛题验证点映射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5335" y="907256"/>
              <a:ext cx="18275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AI+金融官方定位逐条对齐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1619250"/>
            <a:ext cx="10668000" cy="4038600"/>
            <a:chOff x="762000" y="1619250"/>
            <a:chExt cx="10668000" cy="4038600"/>
          </a:xfrm>
        </p:grpSpPr>
        <p:sp>
          <p:nvSpPr>
            <p:cNvPr id="6" name="Rectangle 6"/>
            <p:cNvSpPr/>
            <p:nvPr/>
          </p:nvSpPr>
          <p:spPr>
            <a:xfrm>
              <a:off x="762000" y="1619250"/>
              <a:ext cx="10668000" cy="6096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761" y="18464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赛题验证点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74261" y="1846421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本方案对应能力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762000" y="2228850"/>
              <a:ext cx="10668000" cy="685800"/>
              <a:chOff x="762000" y="2228850"/>
              <a:chExt cx="10668000" cy="6858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2228850"/>
                <a:ext cx="10668000" cy="685800"/>
              </a:xfrm>
              <a:prstGeom prst="rect">
                <a:avLst/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36142" y="25022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资料理解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375023" y="2510314"/>
                <a:ext cx="33127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4A5464"/>
                    </a:solidFill>
                    <a:latin typeface="Microsoft YaHei"/>
                    <a:ea typeface="Microsoft YaHei"/>
                    <a:cs typeface="Microsoft YaHei"/>
                  </a:rPr>
                  <a:t>三大报表结构化抽取（文本 + 视觉双通道）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62000" y="2914650"/>
              <a:ext cx="10668000" cy="685800"/>
              <a:chOff x="762000" y="2914650"/>
              <a:chExt cx="10668000" cy="6858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914650"/>
                <a:ext cx="10668000" cy="685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36142" y="31880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规则匹配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75023" y="3196114"/>
                <a:ext cx="296813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4A5464"/>
                    </a:solidFill>
                    <a:latin typeface="Microsoft YaHei"/>
                    <a:ea typeface="Microsoft YaHei"/>
                    <a:cs typeface="Microsoft YaHei"/>
                  </a:rPr>
                  <a:t>可配置风控规则引擎 + 行业基准库比对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62000" y="3600450"/>
              <a:ext cx="10668000" cy="685800"/>
              <a:chOff x="762000" y="3600450"/>
              <a:chExt cx="10668000" cy="6858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62000" y="3600450"/>
                <a:ext cx="10668000" cy="685800"/>
              </a:xfrm>
              <a:prstGeom prst="rect">
                <a:avLst/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136142" y="38738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风险提示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75023" y="3881914"/>
                <a:ext cx="34592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4A5464"/>
                    </a:solidFill>
                    <a:latin typeface="Microsoft YaHei"/>
                    <a:ea typeface="Microsoft YaHei"/>
                    <a:cs typeface="Microsoft YaHei"/>
                  </a:rPr>
                  <a:t>命中项归因分析，输出带证据引用的风险清单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62000" y="4286250"/>
              <a:ext cx="10668000" cy="685800"/>
              <a:chOff x="762000" y="4286250"/>
              <a:chExt cx="10668000" cy="6858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4286250"/>
                <a:ext cx="10668000" cy="685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36142" y="45596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投研整理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75023" y="4567714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4A5464"/>
                    </a:solidFill>
                    <a:latin typeface="Microsoft YaHei"/>
                    <a:ea typeface="Microsoft YaHei"/>
                    <a:cs typeface="Microsoft YaHei"/>
                  </a:rPr>
                  <a:t>自动汇总为结构化尽调报告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4972050"/>
              <a:ext cx="10668000" cy="685800"/>
              <a:chOff x="762000" y="4972050"/>
              <a:chExt cx="10668000" cy="6858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62000" y="4972050"/>
                <a:ext cx="10668000" cy="685800"/>
              </a:xfrm>
              <a:prstGeom prst="rect">
                <a:avLst/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36142" y="52454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3864"/>
                    </a:solidFill>
                    <a:latin typeface="Microsoft YaHei"/>
                    <a:ea typeface="Microsoft YaHei"/>
                    <a:cs typeface="Microsoft YaHei"/>
                  </a:rPr>
                  <a:t>流程辅助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75023" y="5253514"/>
                <a:ext cx="276997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4A5464"/>
                    </a:solidFill>
                    <a:latin typeface="Microsoft YaHei"/>
                    <a:ea typeface="Microsoft YaHei"/>
                    <a:cs typeface="Microsoft YaHei"/>
                  </a:rPr>
                  <a:t>多步编排工作流，替代人工通读建表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76250"/>
            <a:ext cx="1896400" cy="651034"/>
            <a:chOff x="571500" y="476250"/>
            <a:chExt cx="1896400" cy="651034"/>
          </a:xfrm>
        </p:grpSpPr>
        <p:sp>
          <p:nvSpPr>
            <p:cNvPr id="2" name="Rectangle 2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8858" y="5219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技术方案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5335" y="90725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计算与推理分离 · 全开源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428750"/>
            <a:ext cx="11049000" cy="857250"/>
            <a:chOff x="571500" y="1428750"/>
            <a:chExt cx="11049000" cy="8572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11049000" cy="857250"/>
            </a:xfrm>
            <a:prstGeom prst="roundRect">
              <a:avLst>
                <a:gd name="adj" fmla="val 13333"/>
              </a:avLst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6399" y="1715929"/>
              <a:ext cx="25601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LangGraph 状态机编排层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8304" y="2023110"/>
              <a:ext cx="3848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6EA"/>
                  </a:solidFill>
                  <a:latin typeface="Microsoft YaHei"/>
                  <a:ea typeface="Microsoft YaHei"/>
                  <a:cs typeface="Microsoft YaHei"/>
                </a:rPr>
                <a:t>解析 → 抽取 → 计算 → 规则匹配 → 风险研判 → 报告生成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2571750"/>
            <a:ext cx="2619375" cy="1809750"/>
            <a:chOff x="571500" y="2571750"/>
            <a:chExt cx="2619375" cy="1809750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2619375" cy="1809750"/>
            </a:xfrm>
            <a:prstGeom prst="roundRect">
              <a:avLst>
                <a:gd name="adj" fmla="val 6316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571750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2E5FA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1911" y="29894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文档解析层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3435" y="3421856"/>
              <a:ext cx="164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pdfplumber / PyMuPDF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435" y="3669506"/>
              <a:ext cx="1445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Qwen-VL（扫描件）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81375" y="2571750"/>
            <a:ext cx="2619375" cy="1809750"/>
            <a:chOff x="3381375" y="2571750"/>
            <a:chExt cx="2619375" cy="1809750"/>
          </a:xfrm>
        </p:grpSpPr>
        <p:sp>
          <p:nvSpPr>
            <p:cNvPr id="16" name="Rectangle 16"/>
            <p:cNvSpPr/>
            <p:nvPr/>
          </p:nvSpPr>
          <p:spPr>
            <a:xfrm>
              <a:off x="3381375" y="2571750"/>
              <a:ext cx="2619375" cy="1809750"/>
            </a:xfrm>
            <a:prstGeom prst="roundRect">
              <a:avLst>
                <a:gd name="adj" fmla="val 6316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81375" y="2571750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2E5FA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21786" y="29894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结构化抽取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3310" y="3421856"/>
              <a:ext cx="68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DeepSeek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23310" y="3669506"/>
              <a:ext cx="1329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JSON 输出 Schema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191250" y="2571750"/>
            <a:ext cx="2619375" cy="1809750"/>
            <a:chOff x="6191250" y="2571750"/>
            <a:chExt cx="2619375" cy="1809750"/>
          </a:xfrm>
        </p:grpSpPr>
        <p:sp>
          <p:nvSpPr>
            <p:cNvPr id="22" name="Rectangle 22"/>
            <p:cNvSpPr/>
            <p:nvPr/>
          </p:nvSpPr>
          <p:spPr>
            <a:xfrm>
              <a:off x="6191250" y="2571750"/>
              <a:ext cx="2619375" cy="1809750"/>
            </a:xfrm>
            <a:prstGeom prst="roundRect">
              <a:avLst>
                <a:gd name="adj" fmla="val 6316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91250" y="2571750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31661" y="29894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指标计算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185" y="342185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pandas 纯代码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3185" y="3669506"/>
              <a:ext cx="9911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数值不交 LLM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01125" y="2571750"/>
            <a:ext cx="2619375" cy="1809750"/>
            <a:chOff x="9001125" y="2571750"/>
            <a:chExt cx="2619375" cy="1809750"/>
          </a:xfrm>
        </p:grpSpPr>
        <p:sp>
          <p:nvSpPr>
            <p:cNvPr id="28" name="Rectangle 28"/>
            <p:cNvSpPr/>
            <p:nvPr/>
          </p:nvSpPr>
          <p:spPr>
            <a:xfrm>
              <a:off x="9001125" y="2571750"/>
              <a:ext cx="2619375" cy="1809750"/>
            </a:xfrm>
            <a:prstGeom prst="roundRect">
              <a:avLst>
                <a:gd name="adj" fmla="val 6316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001125" y="2571750"/>
              <a:ext cx="2619375" cy="57150"/>
            </a:xfrm>
            <a:prstGeom prst="roundRect">
              <a:avLst>
                <a:gd name="adj" fmla="val 50000"/>
              </a:avLst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41536" y="2989421"/>
              <a:ext cx="15299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规则引擎/知识库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43060" y="34218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可配置规则库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43060" y="3669506"/>
              <a:ext cx="959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行业基准 RAG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65023" y="4891564"/>
            <a:ext cx="8905507" cy="611314"/>
            <a:chOff x="565023" y="4891564"/>
            <a:chExt cx="8905507" cy="611314"/>
          </a:xfrm>
        </p:grpSpPr>
        <p:sp>
          <p:nvSpPr>
            <p:cNvPr id="34" name="TextBox 34"/>
            <p:cNvSpPr txBox="1"/>
            <p:nvPr/>
          </p:nvSpPr>
          <p:spPr>
            <a:xfrm>
              <a:off x="565023" y="4891564"/>
              <a:ext cx="8905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 xml:space="preserve">技术选型　</a:t>
              </a:r>
              <a:r>
                <a:rPr lang="en-US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 xml:space="preserve"> </a:t>
              </a:r>
              <a:r>
                <a:rPr lang="zh-CN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LangGraph + DeepSeek（deepseek-chat / reasoner）+ Qwen-VL + pandas + 向量检索 + Streamlit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5023" y="5253514"/>
              <a:ext cx="7850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 xml:space="preserve">开源　</a:t>
              </a:r>
              <a:r>
                <a:rPr lang="en-US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 xml:space="preserve"> </a:t>
              </a:r>
              <a:r>
                <a:rPr lang="zh-CN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主推理模型用有开源权重的 DeepSeek / Qwen，编排与计算全为开源框架，代码可整体开源。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76250"/>
            <a:ext cx="1270686" cy="651034"/>
            <a:chOff x="571500" y="476250"/>
            <a:chExt cx="1270686" cy="651034"/>
          </a:xfrm>
        </p:grpSpPr>
        <p:sp>
          <p:nvSpPr>
            <p:cNvPr id="2" name="Rectangle 2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8858" y="5219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创新点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5335" y="907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四点差异化能力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5429250" cy="2286000"/>
            <a:chOff x="571500" y="1428750"/>
            <a:chExt cx="5429250" cy="22860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429250" cy="2286000"/>
            </a:xfrm>
            <a:prstGeom prst="roundRect">
              <a:avLst>
                <a:gd name="adj" fmla="val 5833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762125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0620" y="18468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5237" y="1766411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计算与推理分离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7904" y="2232660"/>
              <a:ext cx="3792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财务指标用代码精确计算，LLM 只做归因与表达，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904" y="25184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避免大模型「算错数」。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91250" y="1428750"/>
            <a:ext cx="5429250" cy="2286000"/>
            <a:chOff x="6191250" y="1428750"/>
            <a:chExt cx="5429250" cy="2286000"/>
          </a:xfrm>
        </p:grpSpPr>
        <p:sp>
          <p:nvSpPr>
            <p:cNvPr id="13" name="Rectangle 13"/>
            <p:cNvSpPr/>
            <p:nvPr/>
          </p:nvSpPr>
          <p:spPr>
            <a:xfrm>
              <a:off x="6191250" y="1428750"/>
              <a:ext cx="5429250" cy="2286000"/>
            </a:xfrm>
            <a:prstGeom prst="roundRect">
              <a:avLst>
                <a:gd name="adj" fmla="val 5833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477000" y="1762125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0370" y="18468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4987" y="1766411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可解释风险研判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7654" y="22326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每一条风险提示都携带可追溯证据链，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7654" y="25184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而非「黑盒打分」。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4000500"/>
            <a:ext cx="5429250" cy="2286000"/>
            <a:chOff x="571500" y="4000500"/>
            <a:chExt cx="5429250" cy="2286000"/>
          </a:xfrm>
        </p:grpSpPr>
        <p:sp>
          <p:nvSpPr>
            <p:cNvPr id="20" name="Rectangle 20"/>
            <p:cNvSpPr/>
            <p:nvPr/>
          </p:nvSpPr>
          <p:spPr>
            <a:xfrm>
              <a:off x="571500" y="4000500"/>
              <a:ext cx="5429250" cy="2286000"/>
            </a:xfrm>
            <a:prstGeom prst="roundRect">
              <a:avLst>
                <a:gd name="adj" fmla="val 5833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57250" y="4333875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0620" y="44186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5237" y="4338161"/>
              <a:ext cx="272835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可配置规则库 + 行业基准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7904" y="48044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经验规则化、规则开源化，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7904" y="50901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支持按行业、按机构扩展。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91250" y="4000500"/>
            <a:ext cx="5429250" cy="2286000"/>
            <a:chOff x="6191250" y="4000500"/>
            <a:chExt cx="5429250" cy="2286000"/>
          </a:xfrm>
        </p:grpSpPr>
        <p:sp>
          <p:nvSpPr>
            <p:cNvPr id="27" name="Rectangle 27"/>
            <p:cNvSpPr/>
            <p:nvPr/>
          </p:nvSpPr>
          <p:spPr>
            <a:xfrm>
              <a:off x="6191250" y="4000500"/>
              <a:ext cx="5429250" cy="2286000"/>
            </a:xfrm>
            <a:prstGeom prst="roundRect">
              <a:avLst>
                <a:gd name="adj" fmla="val 5833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0" y="4333875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0370" y="44186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34987" y="4338161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双通道资料理解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7654" y="4804410"/>
              <a:ext cx="20775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文本 + 视觉，覆盖普通 PDF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37654" y="50901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2"/>
                  </a:solidFill>
                  <a:latin typeface="Microsoft YaHei"/>
                  <a:ea typeface="Microsoft YaHei"/>
                  <a:cs typeface="Microsoft YaHei"/>
                </a:rPr>
                <a:t>与扫描件。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76250"/>
            <a:ext cx="2310176" cy="651034"/>
            <a:chOff x="571500" y="476250"/>
            <a:chExt cx="2310176" cy="651034"/>
          </a:xfrm>
        </p:grpSpPr>
        <p:sp>
          <p:nvSpPr>
            <p:cNvPr id="2" name="Rectangle 2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8858" y="5219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真实数据验证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5335" y="907256"/>
              <a:ext cx="21063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已在两份 A 股年报跑通全流程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524000"/>
            <a:ext cx="10668000" cy="495300"/>
            <a:chOff x="762000" y="1524000"/>
            <a:chExt cx="10668000" cy="495300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10668000" cy="4953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142" y="17021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标的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69892" y="17021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184392" y="17021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综合风险等级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79892" y="17021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命中关键风险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2019300"/>
            <a:ext cx="10668000" cy="704850"/>
            <a:chOff x="762000" y="2019300"/>
            <a:chExt cx="10668000" cy="704850"/>
          </a:xfrm>
        </p:grpSpPr>
        <p:sp>
          <p:nvSpPr>
            <p:cNvPr id="12" name="Rectangle 12"/>
            <p:cNvSpPr/>
            <p:nvPr/>
          </p:nvSpPr>
          <p:spPr>
            <a:xfrm>
              <a:off x="762000" y="2019300"/>
              <a:ext cx="10668000" cy="704850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6523" y="2319814"/>
              <a:ext cx="1912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贵州茅台（2024 年报）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0654" y="2327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白酒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91250" y="2219325"/>
              <a:ext cx="857250" cy="30480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9347" y="229933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低风险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1035" y="23360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未命中显著规则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2724150"/>
            <a:ext cx="10668000" cy="819150"/>
            <a:chOff x="762000" y="2724150"/>
            <a:chExt cx="10668000" cy="819150"/>
          </a:xfrm>
        </p:grpSpPr>
        <p:sp>
          <p:nvSpPr>
            <p:cNvPr id="19" name="Rectangle 19"/>
            <p:cNvSpPr/>
            <p:nvPr/>
          </p:nvSpPr>
          <p:spPr>
            <a:xfrm>
              <a:off x="762000" y="2724150"/>
              <a:ext cx="10668000" cy="819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6523" y="3005614"/>
              <a:ext cx="1800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万科 A（2024 年报）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0654" y="30137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房地产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91250" y="2981325"/>
              <a:ext cx="857250" cy="304800"/>
            </a:xfrm>
            <a:prstGeom prst="roundRect">
              <a:avLst>
                <a:gd name="adj" fmla="val 50000"/>
              </a:avLst>
            </a:prstGeom>
            <a:solidFill>
              <a:srgbClr val="C0303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9347" y="306133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高风险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81035" y="3021806"/>
              <a:ext cx="186055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经营亏损、利息保障倍数过低</a:t>
              </a:r>
              <a:br/>
              <a:r>
                <a:rPr lang="zh-CN" sz="112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毛利率下滑、营收负增长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4761" y="4037171"/>
            <a:ext cx="8199349" cy="1687735"/>
            <a:chOff x="754761" y="4037171"/>
            <a:chExt cx="8199349" cy="1687735"/>
          </a:xfrm>
        </p:grpSpPr>
        <p:sp>
          <p:nvSpPr>
            <p:cNvPr id="26" name="TextBox 26"/>
            <p:cNvSpPr txBox="1"/>
            <p:nvPr/>
          </p:nvSpPr>
          <p:spPr>
            <a:xfrm>
              <a:off x="754761" y="40371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验证要点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5904" y="4461510"/>
              <a:ext cx="8198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指标准确性：茅台毛利率 91.9%、净利率 52.3%、ROE 36.9%；万科净利润 -487 亿、营收同比 -26.3%。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5904" y="4804410"/>
              <a:ext cx="8170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行业基准生效：万科资产负债率 73.7%，在房地产 85% 参考线内不误报，仍因经营亏损、营收下滑判为高风险。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904" y="5147310"/>
              <a:ext cx="75727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规则库覆盖：8 大类 13+ 条规则，含行业基准（房地产 85% / 建筑 80% / 白酒食品 50% / 金融豁免）。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5490210"/>
              <a:ext cx="5759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计算与推理分离：指标纯 Python 计算，规则引擎支持 --no-llm 纯规则模式。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76250"/>
            <a:ext cx="2935681" cy="651034"/>
            <a:chOff x="571500" y="476250"/>
            <a:chExt cx="2935681" cy="651034"/>
          </a:xfrm>
        </p:grpSpPr>
        <p:sp>
          <p:nvSpPr>
            <p:cNvPr id="2" name="Rectangle 2"/>
            <p:cNvSpPr/>
            <p:nvPr/>
          </p:nvSpPr>
          <p:spPr>
            <a:xfrm>
              <a:off x="571500" y="476250"/>
              <a:ext cx="57150" cy="381000"/>
            </a:xfrm>
            <a:prstGeom prst="rect">
              <a:avLst/>
            </a:prstGeom>
            <a:solidFill>
              <a:srgbClr val="C08A3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8858" y="5219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合规、开放与迭代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5335" y="9072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6"/>
                  </a:solidFill>
                  <a:latin typeface="Microsoft YaHei"/>
                  <a:ea typeface="Microsoft YaHei"/>
                  <a:cs typeface="Microsoft YaHei"/>
                </a:rPr>
                <a:t>边界清晰 · 可复用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3118" y="1707832"/>
            <a:ext cx="3954018" cy="1750124"/>
            <a:chOff x="563118" y="1707832"/>
            <a:chExt cx="3954018" cy="1750124"/>
          </a:xfrm>
        </p:grpSpPr>
        <p:sp>
          <p:nvSpPr>
            <p:cNvPr id="6" name="TextBox 6"/>
            <p:cNvSpPr txBox="1"/>
            <p:nvPr/>
          </p:nvSpPr>
          <p:spPr>
            <a:xfrm>
              <a:off x="563118" y="17078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数据与合规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5404" y="2251710"/>
              <a:ext cx="3951732" cy="1206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lnSpc>
                  <a:spcPts val="2550"/>
                </a:lnSpc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数据来源：公开上市公司财报，无隐私门槛</a:t>
              </a:r>
            </a:p>
            <a:p>
              <a:pPr algn="l" marL="129540" indent="-129540">
                <a:lnSpc>
                  <a:spcPts val="2550"/>
                </a:lnSpc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隐私保护：数据本地处理，不向第三方传原始材料</a:t>
              </a:r>
            </a:p>
            <a:p>
              <a:pPr algn="l" marL="129540" indent="-129540">
                <a:lnSpc>
                  <a:spcPts val="2550"/>
                </a:lnSpc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风险提示：报告标注「AI 辅助生成，不构成投资建议」</a:t>
              </a:r>
            </a:p>
            <a:p>
              <a:pPr algn="l" marL="129540" indent="-129540">
                <a:lnSpc>
                  <a:spcPts val="2550"/>
                </a:lnSpc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行业边界：定位「尽调初筛辅助」，最终判断由团队完成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82868" y="1707832"/>
            <a:ext cx="3390138" cy="1750124"/>
            <a:chOff x="6182868" y="1707832"/>
            <a:chExt cx="3390138" cy="1750124"/>
          </a:xfrm>
        </p:grpSpPr>
        <p:sp>
          <p:nvSpPr>
            <p:cNvPr id="9" name="TextBox 9"/>
            <p:cNvSpPr txBox="1"/>
            <p:nvPr/>
          </p:nvSpPr>
          <p:spPr>
            <a:xfrm>
              <a:off x="6182868" y="17078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3864"/>
                  </a:solidFill>
                  <a:latin typeface="Microsoft YaHei"/>
                  <a:ea typeface="Microsoft YaHei"/>
                  <a:cs typeface="Microsoft YaHei"/>
                </a:rPr>
                <a:t>开放复用与迭代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85154" y="2251710"/>
              <a:ext cx="3387852" cy="1206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lnSpc>
                  <a:spcPts val="2550"/>
                </a:lnSpc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代码、规则库、抽取 Schema 开源</a:t>
              </a:r>
            </a:p>
            <a:p>
              <a:pPr algn="l" marL="129540" indent="-129540">
                <a:lnSpc>
                  <a:spcPts val="2550"/>
                </a:lnSpc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指标计算 / 规则引擎 / 报告模板抽为可复用组件</a:t>
              </a:r>
            </a:p>
            <a:p>
              <a:pPr algn="l" marL="129540" indent="-129540">
                <a:lnSpc>
                  <a:spcPts val="2550"/>
                </a:lnSpc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初赛：验证场景价值</a:t>
              </a:r>
            </a:p>
            <a:p>
              <a:pPr algn="l" marL="129540" indent="-129540">
                <a:lnSpc>
                  <a:spcPts val="2550"/>
                </a:lnSpc>
                <a:buClr>
                  <a:srgbClr val="4A5464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rgbClr val="4A5464"/>
                  </a:solidFill>
                  <a:latin typeface="Microsoft YaHei"/>
                  <a:ea typeface="Microsoft YaHei"/>
                  <a:cs typeface="Microsoft YaHei"/>
                </a:rPr>
                <a:t>复赛：可运行 Demo → 决赛：现场路演答辩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5334000"/>
            <a:ext cx="11049000" cy="1047750"/>
            <a:chOff x="571500" y="5334000"/>
            <a:chExt cx="11049000" cy="1047750"/>
          </a:xfrm>
        </p:grpSpPr>
        <p:sp>
          <p:nvSpPr>
            <p:cNvPr id="12" name="Rectangle 12"/>
            <p:cNvSpPr/>
            <p:nvPr/>
          </p:nvSpPr>
          <p:spPr>
            <a:xfrm>
              <a:off x="571500" y="5334000"/>
              <a:ext cx="11049000" cy="1047750"/>
            </a:xfrm>
            <a:prstGeom prst="roundRect">
              <a:avLst>
                <a:gd name="adj" fmla="val 14545"/>
              </a:avLst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95625" y="5599748"/>
              <a:ext cx="64007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明鉴 · 让每一份财报的风险都可见、可解释、可追溯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42735" y="6050756"/>
              <a:ext cx="3906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9FB3D0"/>
                  </a:solidFill>
                  <a:latin typeface="Microsoft YaHei"/>
                  <a:ea typeface="Microsoft YaHei"/>
                  <a:cs typeface="Microsoft YaHei"/>
                </a:rPr>
                <a:t>本工具由 AI 辅助生成，仅供研究参考，不构成投资建议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ingjian_hq">
  <a:themeElements>
    <a:clrScheme name="mingjian_hq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ingjian_hq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gjian_hq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2026-08-13T12:32:59Z</dcterms:created>
  <dcterms:modified xsi:type="dcterms:W3CDTF">2026-08-13T12:32:59Z</dcterms:modified>
  <cp:category/>
  <cp:contentStatus/>
</cp:coreProperties>
</file>