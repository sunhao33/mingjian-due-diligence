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ingjian_hq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ingjian_hq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6294B"/>
            </a:gs>
            <a:gs pos="55000">
              <a:srgbClr val="1F3864"/>
            </a:gs>
            <a:gs pos="100000">
              <a:srgbClr val="2E5FA3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6324600"/>
            <a:ext cx="12192000" cy="533400"/>
          </a:xfrm>
          <a:prstGeom prst="rect">
            <a:avLst/>
          </a:prstGeom>
          <a:solidFill>
            <a:srgbClr val="0F1E38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9525000" y="-381000"/>
            <a:ext cx="2857500" cy="2895600"/>
            <a:chOff x="9525000" y="-381000"/>
            <a:chExt cx="2857500" cy="2895600"/>
          </a:xfrm>
        </p:grpSpPr>
        <p:sp>
          <p:nvSpPr>
            <p:cNvPr id="3" name="Ellipse 3"/>
            <p:cNvSpPr/>
            <p:nvPr/>
          </p:nvSpPr>
          <p:spPr>
            <a:xfrm>
              <a:off x="9525000" y="-381000"/>
              <a:ext cx="2857500" cy="2857500"/>
            </a:xfrm>
            <a:prstGeom prst="ellipse">
              <a:avLst/>
            </a:prstGeom>
            <a:noFill/>
            <a:ln w="19050">
              <a:solidFill>
                <a:srgbClr val="C08A3A">
                  <a:alpha val="22000"/>
                </a:srgbClr>
              </a:solidFill>
            </a:ln>
          </p:spPr>
        </p:sp>
        <p:sp>
          <p:nvSpPr>
            <p:cNvPr id="4" name="Ellipse 4"/>
            <p:cNvSpPr/>
            <p:nvPr/>
          </p:nvSpPr>
          <p:spPr>
            <a:xfrm>
              <a:off x="10001250" y="95250"/>
              <a:ext cx="1905000" cy="1905000"/>
            </a:xfrm>
            <a:prstGeom prst="ellipse">
              <a:avLst/>
            </a:prstGeom>
            <a:noFill/>
            <a:ln w="19050">
              <a:solidFill>
                <a:srgbClr val="C08A3A">
                  <a:alpha val="32000"/>
                </a:srgbClr>
              </a:solidFill>
            </a:ln>
          </p:spPr>
        </p:sp>
        <p:sp>
          <p:nvSpPr>
            <p:cNvPr id="5" name="Ellipse 5"/>
            <p:cNvSpPr/>
            <p:nvPr/>
          </p:nvSpPr>
          <p:spPr>
            <a:xfrm>
              <a:off x="10458450" y="552450"/>
              <a:ext cx="990600" cy="990600"/>
            </a:xfrm>
            <a:prstGeom prst="ellipse">
              <a:avLst/>
            </a:prstGeom>
            <a:solidFill>
              <a:srgbClr val="C08A3A">
                <a:alpha val="16000"/>
              </a:srgbClr>
            </a:solidFill>
            <a:ln>
              <a:noFill/>
            </a:ln>
          </p:spPr>
        </p:sp>
        <p:sp>
          <p:nvSpPr>
            <p:cNvPr id="6" name="Ellipse 6"/>
            <p:cNvSpPr/>
            <p:nvPr/>
          </p:nvSpPr>
          <p:spPr>
            <a:xfrm>
              <a:off x="11734800" y="2114550"/>
              <a:ext cx="152400" cy="152400"/>
            </a:xfrm>
            <a:prstGeom prst="ellipse">
              <a:avLst/>
            </a:prstGeom>
            <a:solidFill>
              <a:srgbClr val="C08A3A">
                <a:alpha val="50000"/>
              </a:srgbClr>
            </a:solidFill>
            <a:ln>
              <a:noFill/>
            </a:ln>
          </p:spPr>
        </p:sp>
        <p:sp>
          <p:nvSpPr>
            <p:cNvPr id="7" name="Ellipse 7"/>
            <p:cNvSpPr/>
            <p:nvPr/>
          </p:nvSpPr>
          <p:spPr>
            <a:xfrm>
              <a:off x="11201400" y="2438400"/>
              <a:ext cx="76200" cy="76200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>
              <a:noFill/>
            </a:ln>
          </p:spPr>
        </p:sp>
      </p:grpSp>
      <p:grpSp>
        <p:nvGrpSpPr>
          <p:cNvPr id="15" name="Group 15"/>
          <p:cNvGrpSpPr/>
          <p:nvPr/>
        </p:nvGrpSpPr>
        <p:grpSpPr>
          <a:xfrm>
            <a:off x="742950" y="2171700"/>
            <a:ext cx="5858227" cy="3572256"/>
            <a:chOff x="742950" y="2171700"/>
            <a:chExt cx="5858227" cy="3572256"/>
          </a:xfrm>
        </p:grpSpPr>
        <p:sp>
          <p:nvSpPr>
            <p:cNvPr id="9" name="Rectangle 9"/>
            <p:cNvSpPr/>
            <p:nvPr/>
          </p:nvSpPr>
          <p:spPr>
            <a:xfrm>
              <a:off x="762000" y="2171700"/>
              <a:ext cx="1333500" cy="76200"/>
            </a:xfrm>
            <a:prstGeom prst="rect">
              <a:avLst/>
            </a:prstGeom>
            <a:solidFill>
              <a:srgbClr val="C08A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42950" y="2657475"/>
              <a:ext cx="5858227" cy="876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明鉴 · 企业财务尽调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48284" y="3499485"/>
              <a:ext cx="3134476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与风险研判 Agent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3618" y="4298632"/>
              <a:ext cx="44036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D5DEEE"/>
                  </a:solidFill>
                  <a:latin typeface="Microsoft YaHei"/>
                  <a:ea typeface="Microsoft YaHei"/>
                  <a:cs typeface="Microsoft YaHei"/>
                </a:rPr>
                <a:t>上传财报 → 解析 · 计算 · 匹配 · 研判 · 报告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5142" y="5045392"/>
              <a:ext cx="35403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FB3D0"/>
                  </a:solidFill>
                  <a:latin typeface="Microsoft YaHei"/>
                  <a:ea typeface="Microsoft YaHei"/>
                  <a:cs typeface="Microsoft YaHei"/>
                </a:rPr>
                <a:t>Boundless Agents（无界应用）· AI + 金融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5904" y="5509260"/>
              <a:ext cx="34046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C08A3A"/>
                  </a:solidFill>
                  <a:latin typeface="Microsoft YaHei"/>
                  <a:ea typeface="Microsoft YaHei"/>
                  <a:cs typeface="Microsoft YaHei"/>
                </a:rPr>
                <a:t>面向投资尽调初筛的可解释财务风险研判智能体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71500" y="476250"/>
            <a:ext cx="2047174" cy="651034"/>
            <a:chOff x="571500" y="476250"/>
            <a:chExt cx="2047174" cy="651034"/>
          </a:xfrm>
        </p:grpSpPr>
        <p:sp>
          <p:nvSpPr>
            <p:cNvPr id="2" name="Rectangle 2"/>
            <p:cNvSpPr/>
            <p:nvPr/>
          </p:nvSpPr>
          <p:spPr>
            <a:xfrm>
              <a:off x="571500" y="476250"/>
              <a:ext cx="57150" cy="381000"/>
            </a:xfrm>
            <a:prstGeom prst="rect">
              <a:avLst/>
            </a:prstGeom>
            <a:solidFill>
              <a:srgbClr val="C08A3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8858" y="521970"/>
              <a:ext cx="138135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F3864"/>
                  </a:solidFill>
                  <a:latin typeface="Microsoft YaHei"/>
                  <a:ea typeface="Microsoft YaHei"/>
                  <a:cs typeface="Microsoft YaHei"/>
                </a:rPr>
                <a:t>项目概述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5335" y="907256"/>
              <a:ext cx="1843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8A94A6"/>
                  </a:solidFill>
                  <a:latin typeface="Microsoft YaHei"/>
                  <a:ea typeface="Microsoft YaHei"/>
                  <a:cs typeface="Microsoft YaHei"/>
                </a:rPr>
                <a:t>一句话定位 · 五步任务闭环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563880" y="1476375"/>
            <a:ext cx="14123098" cy="293370"/>
            <a:chOff x="563880" y="1476375"/>
            <a:chExt cx="14123098" cy="293370"/>
          </a:xfrm>
        </p:grpSpPr>
        <p:sp>
          <p:nvSpPr>
            <p:cNvPr id="6" name="TextBox 6"/>
            <p:cNvSpPr txBox="1"/>
            <p:nvPr/>
          </p:nvSpPr>
          <p:spPr>
            <a:xfrm>
              <a:off x="563880" y="1476375"/>
              <a:ext cx="141230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333333"/>
                  </a:solidFill>
                  <a:latin typeface="Microsoft YaHei"/>
                  <a:ea typeface="Microsoft YaHei"/>
                  <a:cs typeface="Microsoft YaHei"/>
                </a:rPr>
                <a:t>「明鉴」面向</a:t>
              </a:r>
              <a:r>
                <a:rPr lang="en-US" sz="1500" dirty="0">
                  <a:solidFill>
                    <a:srgbClr val="333333"/>
                  </a:solidFill>
                  <a:latin typeface="Microsoft YaHei"/>
                  <a:ea typeface="Microsoft YaHei"/>
                  <a:cs typeface="Microsoft YaHei"/>
                </a:rPr>
                <a:t xml:space="preserve"> </a:t>
              </a:r>
              <a:r>
                <a:rPr lang="zh-CN" sz="1500" b="1" dirty="0">
                  <a:solidFill>
                    <a:srgbClr val="1F3864"/>
                  </a:solidFill>
                  <a:latin typeface="Microsoft YaHei"/>
                  <a:ea typeface="Microsoft YaHei"/>
                  <a:cs typeface="Microsoft YaHei"/>
                </a:rPr>
                <a:t>投资尽调初筛</a:t>
              </a:r>
              <a:r>
                <a:rPr lang="en-US" sz="1500" dirty="0">
                  <a:solidFill>
                    <a:srgbClr val="333333"/>
                  </a:solidFill>
                  <a:latin typeface="Microsoft YaHei"/>
                  <a:ea typeface="Microsoft YaHei"/>
                  <a:cs typeface="Microsoft YaHei"/>
                </a:rPr>
                <a:t xml:space="preserve"> </a:t>
              </a:r>
              <a:r>
                <a:rPr lang="zh-CN" sz="1500" dirty="0">
                  <a:solidFill>
                    <a:srgbClr val="333333"/>
                  </a:solidFill>
                  <a:latin typeface="Microsoft YaHei"/>
                  <a:ea typeface="Microsoft YaHei"/>
                  <a:cs typeface="Microsoft YaHei"/>
                </a:rPr>
                <a:t>场景，让 Agent 多步编排，自动完成</a:t>
              </a:r>
              <a:r>
                <a:rPr lang="en-US" sz="1500" dirty="0">
                  <a:solidFill>
                    <a:srgbClr val="333333"/>
                  </a:solidFill>
                  <a:latin typeface="Microsoft YaHei"/>
                  <a:ea typeface="Microsoft YaHei"/>
                  <a:cs typeface="Microsoft YaHei"/>
                </a:rPr>
                <a:t xml:space="preserve"> </a:t>
              </a:r>
              <a:r>
                <a:rPr lang="zh-CN" sz="1500" b="1" dirty="0">
                  <a:solidFill>
                    <a:srgbClr val="2E5FA3"/>
                  </a:solidFill>
                  <a:latin typeface="Microsoft YaHei"/>
                  <a:ea typeface="Microsoft YaHei"/>
                  <a:cs typeface="Microsoft YaHei"/>
                </a:rPr>
                <a:t>资料理解 → 指标计算 → 规则匹配 → 风险提示 → 投研整理</a:t>
              </a:r>
              <a:r>
                <a:rPr lang="en-US" sz="1500" dirty="0">
                  <a:solidFill>
                    <a:srgbClr val="333333"/>
                  </a:solidFill>
                  <a:latin typeface="Microsoft YaHei"/>
                  <a:ea typeface="Microsoft YaHei"/>
                  <a:cs typeface="Microsoft YaHei"/>
                </a:rPr>
                <a:t xml:space="preserve"> </a:t>
              </a:r>
              <a:r>
                <a:rPr lang="zh-CN" sz="1500" dirty="0">
                  <a:solidFill>
                    <a:srgbClr val="333333"/>
                  </a:solidFill>
                  <a:latin typeface="Microsoft YaHei"/>
                  <a:ea typeface="Microsoft YaHei"/>
                  <a:cs typeface="Microsoft YaHei"/>
                </a:rPr>
                <a:t>，输出可解释的尽调初筛报告。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571500" y="2286000"/>
            <a:ext cx="11049000" cy="2476500"/>
            <a:chOff x="571500" y="2286000"/>
            <a:chExt cx="11049000" cy="2476500"/>
          </a:xfrm>
        </p:grpSpPr>
        <p:grpSp>
          <p:nvGrpSpPr>
            <p:cNvPr id="15" name="Group 15"/>
            <p:cNvGrpSpPr/>
            <p:nvPr/>
          </p:nvGrpSpPr>
          <p:grpSpPr>
            <a:xfrm>
              <a:off x="571500" y="2286000"/>
              <a:ext cx="2057400" cy="2476500"/>
              <a:chOff x="571500" y="2286000"/>
              <a:chExt cx="2057400" cy="2476500"/>
            </a:xfrm>
          </p:grpSpPr>
          <p:sp>
            <p:nvSpPr>
              <p:cNvPr id="8" name="Rectangle 8"/>
              <p:cNvSpPr/>
              <p:nvPr/>
            </p:nvSpPr>
            <p:spPr>
              <a:xfrm>
                <a:off x="571500" y="2286000"/>
                <a:ext cx="2057400" cy="2476500"/>
              </a:xfrm>
              <a:prstGeom prst="roundRect">
                <a:avLst>
                  <a:gd name="adj" fmla="val 6481"/>
                </a:avLst>
              </a:prstGeom>
              <a:solidFill>
                <a:srgbClr val="F4F6FA"/>
              </a:solidFill>
              <a:ln>
                <a:noFill/>
              </a:ln>
            </p:spPr>
          </p:sp>
          <p:sp>
            <p:nvSpPr>
              <p:cNvPr id="9" name="Rectangle 9"/>
              <p:cNvSpPr/>
              <p:nvPr/>
            </p:nvSpPr>
            <p:spPr>
              <a:xfrm>
                <a:off x="571500" y="2286000"/>
                <a:ext cx="2057400" cy="57150"/>
              </a:xfrm>
              <a:prstGeom prst="roundRect">
                <a:avLst>
                  <a:gd name="adj" fmla="val 50000"/>
                </a:avLst>
              </a:prstGeom>
              <a:solidFill>
                <a:srgbClr val="2E5FA3"/>
              </a:solidFill>
              <a:ln>
                <a:noFill/>
              </a:ln>
            </p:spPr>
          </p:sp>
          <p:sp>
            <p:nvSpPr>
              <p:cNvPr id="10" name="Ellipse 10"/>
              <p:cNvSpPr/>
              <p:nvPr/>
            </p:nvSpPr>
            <p:spPr>
              <a:xfrm>
                <a:off x="1371600" y="2628900"/>
                <a:ext cx="457200" cy="457200"/>
              </a:xfrm>
              <a:prstGeom prst="ellipse">
                <a:avLst/>
              </a:prstGeom>
              <a:solidFill>
                <a:srgbClr val="2E5FA3"/>
              </a:solidFill>
              <a:ln>
                <a:noFill/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1521087" y="2748915"/>
                <a:ext cx="15822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800" b="1" dirty="0">
                    <a:solidFill>
                      <a:srgbClr val="FFFFFF"/>
                    </a:solidFill>
                    <a:latin typeface="Microsoft YaHei"/>
                    <a:ea typeface="Microsoft YaHei"/>
                    <a:cs typeface="Microsoft YaHei"/>
                  </a:rPr>
                  <a:t>1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145530" y="3258979"/>
                <a:ext cx="909340" cy="30803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80" b="1" dirty="0">
                    <a:solidFill>
                      <a:srgbClr val="1F3864"/>
                    </a:solidFill>
                    <a:latin typeface="Microsoft YaHei"/>
                    <a:ea typeface="Microsoft YaHei"/>
                    <a:cs typeface="Microsoft YaHei"/>
                  </a:rPr>
                  <a:t>资料理解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170813" y="3658552"/>
                <a:ext cx="858774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解析三大报表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241488" y="3887152"/>
                <a:ext cx="717423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结构化抽取</a:t>
                </a:r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2819400" y="2286000"/>
              <a:ext cx="2057400" cy="2476500"/>
              <a:chOff x="2819400" y="2286000"/>
              <a:chExt cx="2057400" cy="2476500"/>
            </a:xfrm>
          </p:grpSpPr>
          <p:sp>
            <p:nvSpPr>
              <p:cNvPr id="16" name="Rectangle 16"/>
              <p:cNvSpPr/>
              <p:nvPr/>
            </p:nvSpPr>
            <p:spPr>
              <a:xfrm>
                <a:off x="2819400" y="2286000"/>
                <a:ext cx="2057400" cy="2476500"/>
              </a:xfrm>
              <a:prstGeom prst="roundRect">
                <a:avLst>
                  <a:gd name="adj" fmla="val 6481"/>
                </a:avLst>
              </a:prstGeom>
              <a:solidFill>
                <a:srgbClr val="F4F6FA"/>
              </a:solidFill>
              <a:ln>
                <a:noFill/>
              </a:ln>
            </p:spPr>
          </p:sp>
          <p:sp>
            <p:nvSpPr>
              <p:cNvPr id="17" name="Rectangle 17"/>
              <p:cNvSpPr/>
              <p:nvPr/>
            </p:nvSpPr>
            <p:spPr>
              <a:xfrm>
                <a:off x="2819400" y="2286000"/>
                <a:ext cx="2057400" cy="57150"/>
              </a:xfrm>
              <a:prstGeom prst="roundRect">
                <a:avLst>
                  <a:gd name="adj" fmla="val 50000"/>
                </a:avLst>
              </a:prstGeom>
              <a:solidFill>
                <a:srgbClr val="2E5FA3"/>
              </a:solidFill>
              <a:ln>
                <a:noFill/>
              </a:ln>
            </p:spPr>
          </p:sp>
          <p:sp>
            <p:nvSpPr>
              <p:cNvPr id="18" name="Ellipse 18"/>
              <p:cNvSpPr/>
              <p:nvPr/>
            </p:nvSpPr>
            <p:spPr>
              <a:xfrm>
                <a:off x="3619500" y="2628900"/>
                <a:ext cx="457200" cy="457200"/>
              </a:xfrm>
              <a:prstGeom prst="ellipse">
                <a:avLst/>
              </a:prstGeom>
              <a:solidFill>
                <a:srgbClr val="2E5FA3"/>
              </a:solidFill>
              <a:ln>
                <a:noFill/>
              </a:ln>
            </p:spPr>
          </p:sp>
          <p:sp>
            <p:nvSpPr>
              <p:cNvPr id="19" name="TextBox 19"/>
              <p:cNvSpPr txBox="1"/>
              <p:nvPr/>
            </p:nvSpPr>
            <p:spPr>
              <a:xfrm>
                <a:off x="3768987" y="2748915"/>
                <a:ext cx="15822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800" b="1" dirty="0">
                    <a:solidFill>
                      <a:srgbClr val="FFFFFF"/>
                    </a:solidFill>
                    <a:latin typeface="Microsoft YaHei"/>
                    <a:ea typeface="Microsoft YaHei"/>
                    <a:cs typeface="Microsoft YaHei"/>
                  </a:rPr>
                  <a:t>2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3393430" y="3258979"/>
                <a:ext cx="909340" cy="30803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80" b="1" dirty="0">
                    <a:solidFill>
                      <a:srgbClr val="1F3864"/>
                    </a:solidFill>
                    <a:latin typeface="Microsoft YaHei"/>
                    <a:ea typeface="Microsoft YaHei"/>
                    <a:cs typeface="Microsoft YaHei"/>
                  </a:rPr>
                  <a:t>指标计算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340970" y="3658552"/>
                <a:ext cx="101426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偿债/盈利/营运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3450517" y="3887152"/>
                <a:ext cx="79516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成长/现金流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5067300" y="2286000"/>
              <a:ext cx="2057400" cy="2476500"/>
              <a:chOff x="5067300" y="2286000"/>
              <a:chExt cx="2057400" cy="2476500"/>
            </a:xfrm>
          </p:grpSpPr>
          <p:sp>
            <p:nvSpPr>
              <p:cNvPr id="24" name="Rectangle 24"/>
              <p:cNvSpPr/>
              <p:nvPr/>
            </p:nvSpPr>
            <p:spPr>
              <a:xfrm>
                <a:off x="5067300" y="2286000"/>
                <a:ext cx="2057400" cy="2476500"/>
              </a:xfrm>
              <a:prstGeom prst="roundRect">
                <a:avLst>
                  <a:gd name="adj" fmla="val 6481"/>
                </a:avLst>
              </a:prstGeom>
              <a:solidFill>
                <a:srgbClr val="F4F6FA"/>
              </a:solidFill>
              <a:ln>
                <a:noFill/>
              </a:ln>
            </p:spPr>
          </p:sp>
          <p:sp>
            <p:nvSpPr>
              <p:cNvPr id="25" name="Rectangle 25"/>
              <p:cNvSpPr/>
              <p:nvPr/>
            </p:nvSpPr>
            <p:spPr>
              <a:xfrm>
                <a:off x="5067300" y="2286000"/>
                <a:ext cx="2057400" cy="57150"/>
              </a:xfrm>
              <a:prstGeom prst="roundRect">
                <a:avLst>
                  <a:gd name="adj" fmla="val 50000"/>
                </a:avLst>
              </a:prstGeom>
              <a:solidFill>
                <a:srgbClr val="2E5FA3"/>
              </a:solidFill>
              <a:ln>
                <a:noFill/>
              </a:ln>
            </p:spPr>
          </p:sp>
          <p:sp>
            <p:nvSpPr>
              <p:cNvPr id="26" name="Ellipse 26"/>
              <p:cNvSpPr/>
              <p:nvPr/>
            </p:nvSpPr>
            <p:spPr>
              <a:xfrm>
                <a:off x="5867400" y="2628900"/>
                <a:ext cx="457200" cy="457200"/>
              </a:xfrm>
              <a:prstGeom prst="ellipse">
                <a:avLst/>
              </a:prstGeom>
              <a:solidFill>
                <a:srgbClr val="2E5FA3"/>
              </a:solidFill>
              <a:ln>
                <a:noFill/>
              </a:ln>
            </p:spPr>
          </p:sp>
          <p:sp>
            <p:nvSpPr>
              <p:cNvPr id="27" name="TextBox 27"/>
              <p:cNvSpPr txBox="1"/>
              <p:nvPr/>
            </p:nvSpPr>
            <p:spPr>
              <a:xfrm>
                <a:off x="6016887" y="2748915"/>
                <a:ext cx="15822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800" b="1" dirty="0">
                    <a:solidFill>
                      <a:srgbClr val="FFFFFF"/>
                    </a:solidFill>
                    <a:latin typeface="Microsoft YaHei"/>
                    <a:ea typeface="Microsoft YaHei"/>
                    <a:cs typeface="Microsoft YaHei"/>
                  </a:rPr>
                  <a:t>3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5641330" y="3258979"/>
                <a:ext cx="909340" cy="30803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80" b="1" dirty="0">
                    <a:solidFill>
                      <a:srgbClr val="1F3864"/>
                    </a:solidFill>
                    <a:latin typeface="Microsoft YaHei"/>
                    <a:ea typeface="Microsoft YaHei"/>
                    <a:cs typeface="Microsoft YaHei"/>
                  </a:rPr>
                  <a:t>规则匹配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5747890" y="3658552"/>
                <a:ext cx="69622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规则引擎 +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5666613" y="3887152"/>
                <a:ext cx="858774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行业基准比对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7315200" y="2286000"/>
              <a:ext cx="2057400" cy="2476500"/>
              <a:chOff x="7315200" y="2286000"/>
              <a:chExt cx="2057400" cy="24765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7315200" y="2286000"/>
                <a:ext cx="2057400" cy="2476500"/>
              </a:xfrm>
              <a:prstGeom prst="roundRect">
                <a:avLst>
                  <a:gd name="adj" fmla="val 6481"/>
                </a:avLst>
              </a:prstGeom>
              <a:solidFill>
                <a:srgbClr val="F4F6FA"/>
              </a:solidFill>
              <a:ln>
                <a:noFill/>
              </a:ln>
            </p:spPr>
          </p:sp>
          <p:sp>
            <p:nvSpPr>
              <p:cNvPr id="33" name="Rectangle 33"/>
              <p:cNvSpPr/>
              <p:nvPr/>
            </p:nvSpPr>
            <p:spPr>
              <a:xfrm>
                <a:off x="7315200" y="2286000"/>
                <a:ext cx="2057400" cy="57150"/>
              </a:xfrm>
              <a:prstGeom prst="roundRect">
                <a:avLst>
                  <a:gd name="adj" fmla="val 50000"/>
                </a:avLst>
              </a:prstGeom>
              <a:solidFill>
                <a:srgbClr val="2E5FA3"/>
              </a:solidFill>
              <a:ln>
                <a:noFill/>
              </a:ln>
            </p:spPr>
          </p:sp>
          <p:sp>
            <p:nvSpPr>
              <p:cNvPr id="34" name="Ellipse 34"/>
              <p:cNvSpPr/>
              <p:nvPr/>
            </p:nvSpPr>
            <p:spPr>
              <a:xfrm>
                <a:off x="8115300" y="2628900"/>
                <a:ext cx="457200" cy="457200"/>
              </a:xfrm>
              <a:prstGeom prst="ellipse">
                <a:avLst/>
              </a:prstGeom>
              <a:solidFill>
                <a:srgbClr val="2E5FA3"/>
              </a:solidFill>
              <a:ln>
                <a:noFill/>
              </a:ln>
            </p:spPr>
          </p:sp>
          <p:sp>
            <p:nvSpPr>
              <p:cNvPr id="35" name="TextBox 35"/>
              <p:cNvSpPr txBox="1"/>
              <p:nvPr/>
            </p:nvSpPr>
            <p:spPr>
              <a:xfrm>
                <a:off x="8264787" y="2748915"/>
                <a:ext cx="15822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800" b="1" dirty="0">
                    <a:solidFill>
                      <a:srgbClr val="FFFFFF"/>
                    </a:solidFill>
                    <a:latin typeface="Microsoft YaHei"/>
                    <a:ea typeface="Microsoft YaHei"/>
                    <a:cs typeface="Microsoft YaHei"/>
                  </a:rPr>
                  <a:t>4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889230" y="3258979"/>
                <a:ext cx="909340" cy="30803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80" b="1" dirty="0">
                    <a:solidFill>
                      <a:srgbClr val="1F3864"/>
                    </a:solidFill>
                    <a:latin typeface="Microsoft YaHei"/>
                    <a:ea typeface="Microsoft YaHei"/>
                    <a:cs typeface="Microsoft YaHei"/>
                  </a:rPr>
                  <a:t>风险提示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8055864" y="3658552"/>
                <a:ext cx="576072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归因分析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8055864" y="3887152"/>
                <a:ext cx="576072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证据引用</a:t>
                </a:r>
              </a:p>
            </p:txBody>
          </p:sp>
        </p:grpSp>
        <p:grpSp>
          <p:nvGrpSpPr>
            <p:cNvPr id="47" name="Group 47"/>
            <p:cNvGrpSpPr/>
            <p:nvPr/>
          </p:nvGrpSpPr>
          <p:grpSpPr>
            <a:xfrm>
              <a:off x="9563100" y="2286000"/>
              <a:ext cx="2057400" cy="2476500"/>
              <a:chOff x="9563100" y="2286000"/>
              <a:chExt cx="2057400" cy="2476500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9563100" y="2286000"/>
                <a:ext cx="2057400" cy="2476500"/>
              </a:xfrm>
              <a:prstGeom prst="roundRect">
                <a:avLst>
                  <a:gd name="adj" fmla="val 6481"/>
                </a:avLst>
              </a:prstGeom>
              <a:solidFill>
                <a:srgbClr val="F4F6FA"/>
              </a:solidFill>
              <a:ln>
                <a:noFill/>
              </a:ln>
            </p:spPr>
          </p:sp>
          <p:sp>
            <p:nvSpPr>
              <p:cNvPr id="41" name="Rectangle 41"/>
              <p:cNvSpPr/>
              <p:nvPr/>
            </p:nvSpPr>
            <p:spPr>
              <a:xfrm>
                <a:off x="9563100" y="2286000"/>
                <a:ext cx="2057400" cy="57150"/>
              </a:xfrm>
              <a:prstGeom prst="roundRect">
                <a:avLst>
                  <a:gd name="adj" fmla="val 50000"/>
                </a:avLst>
              </a:prstGeom>
              <a:solidFill>
                <a:srgbClr val="2E5FA3"/>
              </a:solidFill>
              <a:ln>
                <a:noFill/>
              </a:ln>
            </p:spPr>
          </p:sp>
          <p:sp>
            <p:nvSpPr>
              <p:cNvPr id="42" name="Ellipse 42"/>
              <p:cNvSpPr/>
              <p:nvPr/>
            </p:nvSpPr>
            <p:spPr>
              <a:xfrm>
                <a:off x="10363200" y="2628900"/>
                <a:ext cx="457200" cy="457200"/>
              </a:xfrm>
              <a:prstGeom prst="ellipse">
                <a:avLst/>
              </a:prstGeom>
              <a:solidFill>
                <a:srgbClr val="2E5FA3"/>
              </a:solidFill>
              <a:ln>
                <a:noFill/>
              </a:ln>
            </p:spPr>
          </p:sp>
          <p:sp>
            <p:nvSpPr>
              <p:cNvPr id="43" name="TextBox 43"/>
              <p:cNvSpPr txBox="1"/>
              <p:nvPr/>
            </p:nvSpPr>
            <p:spPr>
              <a:xfrm>
                <a:off x="10512687" y="2748915"/>
                <a:ext cx="15822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800" b="1" dirty="0">
                    <a:solidFill>
                      <a:srgbClr val="FFFFFF"/>
                    </a:solidFill>
                    <a:latin typeface="Microsoft YaHei"/>
                    <a:ea typeface="Microsoft YaHei"/>
                    <a:cs typeface="Microsoft YaHei"/>
                  </a:rPr>
                  <a:t>5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0137130" y="3258979"/>
                <a:ext cx="909340" cy="30803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80" b="1" dirty="0">
                    <a:solidFill>
                      <a:srgbClr val="1F3864"/>
                    </a:solidFill>
                    <a:latin typeface="Microsoft YaHei"/>
                    <a:ea typeface="Microsoft YaHei"/>
                    <a:cs typeface="Microsoft YaHei"/>
                  </a:rPr>
                  <a:t>投研整理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10233089" y="3658552"/>
                <a:ext cx="717423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结构化报告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10374440" y="3887152"/>
                <a:ext cx="43472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可导出</a:t>
                </a:r>
              </a:p>
            </p:txBody>
          </p:sp>
        </p:grpSp>
      </p:grpSp>
      <p:grpSp>
        <p:nvGrpSpPr>
          <p:cNvPr id="51" name="Group 51"/>
          <p:cNvGrpSpPr/>
          <p:nvPr/>
        </p:nvGrpSpPr>
        <p:grpSpPr>
          <a:xfrm>
            <a:off x="571500" y="5334000"/>
            <a:ext cx="11049000" cy="952500"/>
            <a:chOff x="571500" y="5334000"/>
            <a:chExt cx="11049000" cy="952500"/>
          </a:xfrm>
        </p:grpSpPr>
        <p:sp>
          <p:nvSpPr>
            <p:cNvPr id="49" name="Rectangle 49"/>
            <p:cNvSpPr/>
            <p:nvPr/>
          </p:nvSpPr>
          <p:spPr>
            <a:xfrm>
              <a:off x="571500" y="5334000"/>
              <a:ext cx="11049000" cy="952500"/>
            </a:xfrm>
            <a:prstGeom prst="roundRect">
              <a:avLst>
                <a:gd name="adj" fmla="val 14000"/>
              </a:avLst>
            </a:prstGeom>
            <a:solidFill>
              <a:srgbClr val="1F3864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907161" y="5713571"/>
              <a:ext cx="106907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C08A3A"/>
                  </a:solidFill>
                  <a:latin typeface="Microsoft YaHei"/>
                  <a:ea typeface="Microsoft YaHei"/>
                  <a:cs typeface="Microsoft YaHei"/>
                </a:rPr>
                <a:t xml:space="preserve">核心价值　</a:t>
              </a:r>
              <a:r>
                <a:rPr lang="en-US" sz="142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 xml:space="preserve"> </a:t>
              </a:r>
              <a:r>
                <a:rPr lang="zh-CN" sz="142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把「靠人工翻财报 + 凭经验判断」的低效、非标、易漏过程，变成</a:t>
              </a:r>
              <a:r>
                <a:rPr lang="en-US" sz="142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 xml:space="preserve"> </a:t>
              </a:r>
              <a:r>
                <a:rPr lang="zh-CN" sz="1420" b="1" dirty="0">
                  <a:solidFill>
                    <a:srgbClr val="7FB3FF"/>
                  </a:solidFill>
                  <a:latin typeface="Microsoft YaHei"/>
                  <a:ea typeface="Microsoft YaHei"/>
                  <a:cs typeface="Microsoft YaHei"/>
                </a:rPr>
                <a:t>可运行、可复现、可解释</a:t>
              </a:r>
              <a:r>
                <a:rPr lang="en-US" sz="142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 xml:space="preserve"> </a:t>
              </a:r>
              <a:r>
                <a:rPr lang="zh-CN" sz="142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的自动化任务闭环。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71500" y="476250"/>
            <a:ext cx="3532302" cy="651034"/>
            <a:chOff x="571500" y="476250"/>
            <a:chExt cx="3532302" cy="651034"/>
          </a:xfrm>
        </p:grpSpPr>
        <p:sp>
          <p:nvSpPr>
            <p:cNvPr id="2" name="Rectangle 2"/>
            <p:cNvSpPr/>
            <p:nvPr/>
          </p:nvSpPr>
          <p:spPr>
            <a:xfrm>
              <a:off x="571500" y="476250"/>
              <a:ext cx="57150" cy="381000"/>
            </a:xfrm>
            <a:prstGeom prst="rect">
              <a:avLst/>
            </a:prstGeom>
            <a:solidFill>
              <a:srgbClr val="C08A3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8858" y="521970"/>
              <a:ext cx="138135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F3864"/>
                  </a:solidFill>
                  <a:latin typeface="Microsoft YaHei"/>
                  <a:ea typeface="Microsoft YaHei"/>
                  <a:cs typeface="Microsoft YaHei"/>
                </a:rPr>
                <a:t>行业痛点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5335" y="907256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8A94A6"/>
                  </a:solidFill>
                  <a:latin typeface="Microsoft YaHei"/>
                  <a:ea typeface="Microsoft YaHei"/>
                  <a:cs typeface="Microsoft YaHei"/>
                </a:rPr>
                <a:t>财报是尽调第一道关，人工通读低效、非标、易漏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571500" y="1428750"/>
            <a:ext cx="5429250" cy="2190750"/>
            <a:chOff x="571500" y="1428750"/>
            <a:chExt cx="5429250" cy="2190750"/>
          </a:xfrm>
        </p:grpSpPr>
        <p:sp>
          <p:nvSpPr>
            <p:cNvPr id="6" name="Rectangle 6"/>
            <p:cNvSpPr/>
            <p:nvPr/>
          </p:nvSpPr>
          <p:spPr>
            <a:xfrm>
              <a:off x="571500" y="1428750"/>
              <a:ext cx="5429250" cy="2190750"/>
            </a:xfrm>
            <a:prstGeom prst="roundRect">
              <a:avLst>
                <a:gd name="adj" fmla="val 6087"/>
              </a:avLst>
            </a:prstGeom>
            <a:solidFill>
              <a:srgbClr val="F4F6FA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571500" y="1428750"/>
              <a:ext cx="95250" cy="2190750"/>
            </a:xfrm>
            <a:prstGeom prst="roundRect">
              <a:avLst>
                <a:gd name="adj" fmla="val 50000"/>
              </a:avLst>
            </a:prstGeom>
            <a:solidFill>
              <a:srgbClr val="2E5FA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3356" y="1758315"/>
              <a:ext cx="205374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F3864"/>
                  </a:solidFill>
                  <a:latin typeface="Microsoft YaHei"/>
                  <a:ea typeface="Microsoft YaHei"/>
                  <a:cs typeface="Microsoft YaHei"/>
                </a:rPr>
                <a:t>项目源多、初筛重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46404" y="2299335"/>
              <a:ext cx="3624072" cy="5013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rgbClr val="5A6472"/>
                  </a:solidFill>
                  <a:latin typeface="Microsoft YaHei"/>
                  <a:ea typeface="Microsoft YaHei"/>
                  <a:cs typeface="Microsoft YaHei"/>
                </a:rPr>
                <a:t>投资团队面对大量 BP 与财报，财报是尽调第一道关，</a:t>
              </a:r>
              <a:br/>
              <a:r>
                <a:rPr lang="zh-CN" sz="1200" dirty="0">
                  <a:solidFill>
                    <a:srgbClr val="5A6472"/>
                  </a:solidFill>
                  <a:latin typeface="Microsoft YaHei"/>
                  <a:ea typeface="Microsoft YaHei"/>
                  <a:cs typeface="Microsoft YaHei"/>
                </a:rPr>
                <a:t>人工通读 + 建表需数小时 / 份。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6191250" y="1428750"/>
            <a:ext cx="5429250" cy="2190750"/>
            <a:chOff x="6191250" y="1428750"/>
            <a:chExt cx="5429250" cy="2190750"/>
          </a:xfrm>
        </p:grpSpPr>
        <p:sp>
          <p:nvSpPr>
            <p:cNvPr id="11" name="Rectangle 11"/>
            <p:cNvSpPr/>
            <p:nvPr/>
          </p:nvSpPr>
          <p:spPr>
            <a:xfrm>
              <a:off x="6191250" y="1428750"/>
              <a:ext cx="5429250" cy="2190750"/>
            </a:xfrm>
            <a:prstGeom prst="roundRect">
              <a:avLst>
                <a:gd name="adj" fmla="val 6087"/>
              </a:avLst>
            </a:prstGeom>
            <a:solidFill>
              <a:srgbClr val="F4F6FA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6191250" y="1428750"/>
              <a:ext cx="95250" cy="2190750"/>
            </a:xfrm>
            <a:prstGeom prst="roundRect">
              <a:avLst>
                <a:gd name="adj" fmla="val 50000"/>
              </a:avLst>
            </a:prstGeom>
            <a:solidFill>
              <a:srgbClr val="2E5FA3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563106" y="1758315"/>
              <a:ext cx="10360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F3864"/>
                  </a:solidFill>
                  <a:latin typeface="Microsoft YaHei"/>
                  <a:ea typeface="Microsoft YaHei"/>
                  <a:cs typeface="Microsoft YaHei"/>
                </a:rPr>
                <a:t>标准不一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566154" y="2299335"/>
              <a:ext cx="2755392" cy="5013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rgbClr val="5A6472"/>
                  </a:solidFill>
                  <a:latin typeface="Microsoft YaHei"/>
                  <a:ea typeface="Microsoft YaHei"/>
                  <a:cs typeface="Microsoft YaHei"/>
                </a:rPr>
                <a:t>不同分析师的指标口径、判断标准不一，</a:t>
              </a:r>
              <a:br/>
              <a:r>
                <a:rPr lang="zh-CN" sz="1200" dirty="0">
                  <a:solidFill>
                    <a:srgbClr val="5A6472"/>
                  </a:solidFill>
                  <a:latin typeface="Microsoft YaHei"/>
                  <a:ea typeface="Microsoft YaHei"/>
                  <a:cs typeface="Microsoft YaHei"/>
                </a:rPr>
                <a:t>初筛结论难复现、难对齐。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571500" y="3905250"/>
            <a:ext cx="5429250" cy="2190750"/>
            <a:chOff x="571500" y="3905250"/>
            <a:chExt cx="5429250" cy="2190750"/>
          </a:xfrm>
        </p:grpSpPr>
        <p:sp>
          <p:nvSpPr>
            <p:cNvPr id="16" name="Rectangle 16"/>
            <p:cNvSpPr/>
            <p:nvPr/>
          </p:nvSpPr>
          <p:spPr>
            <a:xfrm>
              <a:off x="571500" y="3905250"/>
              <a:ext cx="5429250" cy="2190750"/>
            </a:xfrm>
            <a:prstGeom prst="roundRect">
              <a:avLst>
                <a:gd name="adj" fmla="val 6087"/>
              </a:avLst>
            </a:prstGeom>
            <a:solidFill>
              <a:srgbClr val="F4F6F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71500" y="3905250"/>
              <a:ext cx="95250" cy="2190750"/>
            </a:xfrm>
            <a:prstGeom prst="roundRect">
              <a:avLst>
                <a:gd name="adj" fmla="val 50000"/>
              </a:avLst>
            </a:prstGeom>
            <a:solidFill>
              <a:srgbClr val="C08A3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43356" y="4234815"/>
              <a:ext cx="7815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F3864"/>
                  </a:solidFill>
                  <a:latin typeface="Microsoft YaHei"/>
                  <a:ea typeface="Microsoft YaHei"/>
                  <a:cs typeface="Microsoft YaHei"/>
                </a:rPr>
                <a:t>易遗漏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404" y="4775835"/>
              <a:ext cx="3212592" cy="5013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rgbClr val="5A6472"/>
                  </a:solidFill>
                  <a:latin typeface="Microsoft YaHei"/>
                  <a:ea typeface="Microsoft YaHei"/>
                  <a:cs typeface="Microsoft YaHei"/>
                </a:rPr>
                <a:t>财务粉饰、收入质量、现金流背离、商誉减值等</a:t>
              </a:r>
              <a:br/>
              <a:r>
                <a:rPr lang="zh-CN" sz="1200" dirty="0">
                  <a:solidFill>
                    <a:srgbClr val="5A6472"/>
                  </a:solidFill>
                  <a:latin typeface="Microsoft YaHei"/>
                  <a:ea typeface="Microsoft YaHei"/>
                  <a:cs typeface="Microsoft YaHei"/>
                </a:rPr>
                <a:t>风险分散在报表各处，肉眼易漏。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191250" y="3905250"/>
            <a:ext cx="5429250" cy="2190750"/>
            <a:chOff x="6191250" y="3905250"/>
            <a:chExt cx="5429250" cy="2190750"/>
          </a:xfrm>
        </p:grpSpPr>
        <p:sp>
          <p:nvSpPr>
            <p:cNvPr id="21" name="Rectangle 21"/>
            <p:cNvSpPr/>
            <p:nvPr/>
          </p:nvSpPr>
          <p:spPr>
            <a:xfrm>
              <a:off x="6191250" y="3905250"/>
              <a:ext cx="5429250" cy="2190750"/>
            </a:xfrm>
            <a:prstGeom prst="roundRect">
              <a:avLst>
                <a:gd name="adj" fmla="val 6087"/>
              </a:avLst>
            </a:prstGeom>
            <a:solidFill>
              <a:srgbClr val="F4F6F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191250" y="3905250"/>
              <a:ext cx="95250" cy="2190750"/>
            </a:xfrm>
            <a:prstGeom prst="roundRect">
              <a:avLst>
                <a:gd name="adj" fmla="val 50000"/>
              </a:avLst>
            </a:prstGeom>
            <a:solidFill>
              <a:srgbClr val="C08A3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563106" y="4234815"/>
              <a:ext cx="7815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F3864"/>
                  </a:solidFill>
                  <a:latin typeface="Microsoft YaHei"/>
                  <a:ea typeface="Microsoft YaHei"/>
                  <a:cs typeface="Microsoft YaHei"/>
                </a:rPr>
                <a:t>门槛高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566154" y="4775835"/>
              <a:ext cx="3212592" cy="5013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rgbClr val="5A6472"/>
                  </a:solidFill>
                  <a:latin typeface="Microsoft YaHei"/>
                  <a:ea typeface="Microsoft YaHei"/>
                  <a:cs typeface="Microsoft YaHei"/>
                </a:rPr>
                <a:t>早期标的财务不规范，年轻投资经理经验不足，</a:t>
              </a:r>
              <a:br/>
              <a:r>
                <a:rPr lang="zh-CN" sz="1200" dirty="0">
                  <a:solidFill>
                    <a:srgbClr val="5A6472"/>
                  </a:solidFill>
                  <a:latin typeface="Microsoft YaHei"/>
                  <a:ea typeface="Microsoft YaHei"/>
                  <a:cs typeface="Microsoft YaHei"/>
                </a:rPr>
                <a:t>判断依赖个人积累。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71500" y="476250"/>
            <a:ext cx="3274924" cy="651034"/>
            <a:chOff x="571500" y="476250"/>
            <a:chExt cx="3274924" cy="651034"/>
          </a:xfrm>
        </p:grpSpPr>
        <p:sp>
          <p:nvSpPr>
            <p:cNvPr id="2" name="Rectangle 2"/>
            <p:cNvSpPr/>
            <p:nvPr/>
          </p:nvSpPr>
          <p:spPr>
            <a:xfrm>
              <a:off x="571500" y="476250"/>
              <a:ext cx="57150" cy="381000"/>
            </a:xfrm>
            <a:prstGeom prst="rect">
              <a:avLst/>
            </a:prstGeom>
            <a:solidFill>
              <a:srgbClr val="C08A3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8858" y="521970"/>
              <a:ext cx="307756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F3864"/>
                  </a:solidFill>
                  <a:latin typeface="Microsoft YaHei"/>
                  <a:ea typeface="Microsoft YaHei"/>
                  <a:cs typeface="Microsoft YaHei"/>
                </a:rPr>
                <a:t>目标用户与价值主张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5335" y="907256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8A94A6"/>
                  </a:solidFill>
                  <a:latin typeface="Microsoft YaHei"/>
                  <a:ea typeface="Microsoft YaHei"/>
                  <a:cs typeface="Microsoft YaHei"/>
                </a:rPr>
                <a:t>谁在用 · 为什么有价值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571500" y="1428750"/>
            <a:ext cx="5334000" cy="1143000"/>
            <a:chOff x="571500" y="1428750"/>
            <a:chExt cx="5334000" cy="1143000"/>
          </a:xfrm>
        </p:grpSpPr>
        <p:sp>
          <p:nvSpPr>
            <p:cNvPr id="6" name="Rectangle 6"/>
            <p:cNvSpPr/>
            <p:nvPr/>
          </p:nvSpPr>
          <p:spPr>
            <a:xfrm>
              <a:off x="571500" y="1428750"/>
              <a:ext cx="5334000" cy="1143000"/>
            </a:xfrm>
            <a:prstGeom prst="roundRect">
              <a:avLst>
                <a:gd name="adj" fmla="val 10000"/>
              </a:avLst>
            </a:prstGeom>
            <a:solidFill>
              <a:srgbClr val="F4F6FA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571500" y="1428750"/>
              <a:ext cx="57150" cy="1143000"/>
            </a:xfrm>
            <a:prstGeom prst="roundRect">
              <a:avLst>
                <a:gd name="adj" fmla="val 50000"/>
              </a:avLst>
            </a:prstGeom>
            <a:solidFill>
              <a:srgbClr val="2E5FA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06399" y="1782604"/>
              <a:ext cx="224934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1F3864"/>
                  </a:solidFill>
                  <a:latin typeface="Microsoft YaHei"/>
                  <a:ea typeface="Microsoft YaHei"/>
                  <a:cs typeface="Microsoft YaHei"/>
                </a:rPr>
                <a:t>一级市场股权投资机构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08685" y="2183606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rPr>
                <a:t>对拟投项目财务健康度快速初筛，判断是否进入深度尽调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571500" y="2762250"/>
            <a:ext cx="5334000" cy="1143000"/>
            <a:chOff x="571500" y="2762250"/>
            <a:chExt cx="5334000" cy="1143000"/>
          </a:xfrm>
        </p:grpSpPr>
        <p:sp>
          <p:nvSpPr>
            <p:cNvPr id="11" name="Rectangle 11"/>
            <p:cNvSpPr/>
            <p:nvPr/>
          </p:nvSpPr>
          <p:spPr>
            <a:xfrm>
              <a:off x="571500" y="2762250"/>
              <a:ext cx="5334000" cy="1143000"/>
            </a:xfrm>
            <a:prstGeom prst="roundRect">
              <a:avLst>
                <a:gd name="adj" fmla="val 10000"/>
              </a:avLst>
            </a:prstGeom>
            <a:solidFill>
              <a:srgbClr val="F4F6FA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571500" y="2762250"/>
              <a:ext cx="57150" cy="1143000"/>
            </a:xfrm>
            <a:prstGeom prst="roundRect">
              <a:avLst>
                <a:gd name="adj" fmla="val 50000"/>
              </a:avLst>
            </a:prstGeom>
            <a:solidFill>
              <a:srgbClr val="2E5FA3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399" y="3116104"/>
              <a:ext cx="228284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1F3864"/>
                  </a:solidFill>
                  <a:latin typeface="Microsoft YaHei"/>
                  <a:ea typeface="Microsoft YaHei"/>
                  <a:cs typeface="Microsoft YaHei"/>
                </a:rPr>
                <a:t>二级市场投研 / 分析师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08685" y="3517106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rPr>
                <a:t>财报速读、风险筛查，辅助投资研究决策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571500" y="4095750"/>
            <a:ext cx="5334000" cy="1143000"/>
            <a:chOff x="571500" y="4095750"/>
            <a:chExt cx="5334000" cy="1143000"/>
          </a:xfrm>
        </p:grpSpPr>
        <p:sp>
          <p:nvSpPr>
            <p:cNvPr id="16" name="Rectangle 16"/>
            <p:cNvSpPr/>
            <p:nvPr/>
          </p:nvSpPr>
          <p:spPr>
            <a:xfrm>
              <a:off x="571500" y="4095750"/>
              <a:ext cx="5334000" cy="1143000"/>
            </a:xfrm>
            <a:prstGeom prst="roundRect">
              <a:avLst>
                <a:gd name="adj" fmla="val 10000"/>
              </a:avLst>
            </a:prstGeom>
            <a:solidFill>
              <a:srgbClr val="F4F6F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71500" y="4095750"/>
              <a:ext cx="57150" cy="1143000"/>
            </a:xfrm>
            <a:prstGeom prst="roundRect">
              <a:avLst>
                <a:gd name="adj" fmla="val 50000"/>
              </a:avLst>
            </a:prstGeom>
            <a:solidFill>
              <a:srgbClr val="2E5FA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06399" y="4449604"/>
              <a:ext cx="1490853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1F3864"/>
                  </a:solidFill>
                  <a:latin typeface="Microsoft YaHei"/>
                  <a:ea typeface="Microsoft YaHei"/>
                  <a:cs typeface="Microsoft YaHei"/>
                </a:rPr>
                <a:t>FA / 财务顾问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08685" y="4850606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rPr>
                <a:t>为项目方准备材料时自检财务风险，提升材料质量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191250" y="1238250"/>
            <a:ext cx="5619750" cy="4000500"/>
            <a:chOff x="6191250" y="1238250"/>
            <a:chExt cx="5619750" cy="4000500"/>
          </a:xfrm>
        </p:grpSpPr>
        <p:sp>
          <p:nvSpPr>
            <p:cNvPr id="21" name="Rectangle 21"/>
            <p:cNvSpPr/>
            <p:nvPr/>
          </p:nvSpPr>
          <p:spPr>
            <a:xfrm>
              <a:off x="6191250" y="1428750"/>
              <a:ext cx="5429250" cy="3810000"/>
            </a:xfrm>
            <a:prstGeom prst="roundRect">
              <a:avLst>
                <a:gd name="adj" fmla="val 4000"/>
              </a:avLst>
            </a:prstGeom>
            <a:solidFill>
              <a:srgbClr val="1F3864"/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10668000" y="1238250"/>
              <a:ext cx="1143000" cy="1143000"/>
            </a:xfrm>
            <a:prstGeom prst="ellipse">
              <a:avLst/>
            </a:prstGeom>
            <a:solidFill>
              <a:srgbClr val="C08A3A">
                <a:alpha val="12000"/>
              </a:srgbClr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658356" y="1853565"/>
              <a:ext cx="10360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C08A3A"/>
                  </a:solidFill>
                  <a:latin typeface="Microsoft YaHei"/>
                  <a:ea typeface="Microsoft YaHei"/>
                  <a:cs typeface="Microsoft YaHei"/>
                </a:rPr>
                <a:t>价值主张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660261" y="2513171"/>
              <a:ext cx="3260598" cy="6025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zh-CN" sz="1420" dirty="0">
                  <a:solidFill>
                    <a:srgbClr val="E6ECF5"/>
                  </a:solidFill>
                  <a:latin typeface="Microsoft YaHei"/>
                  <a:ea typeface="Microsoft YaHei"/>
                  <a:cs typeface="Microsoft YaHei"/>
                </a:rPr>
                <a:t>把资深投资经理的财报尽调经验，沉淀为</a:t>
              </a:r>
              <a:br/>
              <a:r>
                <a:rPr lang="zh-CN" sz="14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可配置规则库 + 可解释推理链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660261" y="3608546"/>
              <a:ext cx="3260598" cy="9264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zh-CN" sz="1420" dirty="0">
                  <a:solidFill>
                    <a:srgbClr val="E6ECF5"/>
                  </a:solidFill>
                  <a:latin typeface="Microsoft YaHei"/>
                  <a:ea typeface="Microsoft YaHei"/>
                  <a:cs typeface="Microsoft YaHei"/>
                </a:rPr>
                <a:t>把「财报初筛」从小时级人工通读变成</a:t>
              </a:r>
              <a:br/>
              <a:r>
                <a:rPr lang="zh-CN" sz="14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分钟级、标准化、可追溯</a:t>
              </a:r>
              <a:br/>
              <a:r>
                <a:rPr lang="zh-CN" sz="1420" dirty="0">
                  <a:solidFill>
                    <a:srgbClr val="E6ECF5"/>
                  </a:solidFill>
                  <a:latin typeface="Microsoft YaHei"/>
                  <a:ea typeface="Microsoft YaHei"/>
                  <a:cs typeface="Microsoft YaHei"/>
                </a:rPr>
                <a:t>的流程，帮投资团队更快筛掉问题标的。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71500" y="476250"/>
            <a:ext cx="2463013" cy="651034"/>
            <a:chOff x="571500" y="476250"/>
            <a:chExt cx="2463013" cy="651034"/>
          </a:xfrm>
        </p:grpSpPr>
        <p:sp>
          <p:nvSpPr>
            <p:cNvPr id="2" name="Rectangle 2"/>
            <p:cNvSpPr/>
            <p:nvPr/>
          </p:nvSpPr>
          <p:spPr>
            <a:xfrm>
              <a:off x="571500" y="476250"/>
              <a:ext cx="57150" cy="381000"/>
            </a:xfrm>
            <a:prstGeom prst="rect">
              <a:avLst/>
            </a:prstGeom>
            <a:solidFill>
              <a:srgbClr val="C08A3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8858" y="521970"/>
              <a:ext cx="205983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F3864"/>
                  </a:solidFill>
                  <a:latin typeface="Microsoft YaHei"/>
                  <a:ea typeface="Microsoft YaHei"/>
                  <a:cs typeface="Microsoft YaHei"/>
                </a:rPr>
                <a:t>产品任务闭环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5335" y="907256"/>
              <a:ext cx="22591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8A94A6"/>
                  </a:solidFill>
                  <a:latin typeface="Microsoft YaHei"/>
                  <a:ea typeface="Microsoft YaHei"/>
                  <a:cs typeface="Microsoft YaHei"/>
                </a:rPr>
                <a:t>Demo 主路径：端到端固定工作流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571500" y="1619250"/>
            <a:ext cx="11049000" cy="2476500"/>
            <a:chOff x="571500" y="1619250"/>
            <a:chExt cx="11049000" cy="2476500"/>
          </a:xfrm>
        </p:grpSpPr>
        <p:grpSp>
          <p:nvGrpSpPr>
            <p:cNvPr id="11" name="Group 11"/>
            <p:cNvGrpSpPr/>
            <p:nvPr/>
          </p:nvGrpSpPr>
          <p:grpSpPr>
            <a:xfrm>
              <a:off x="571500" y="1619250"/>
              <a:ext cx="1600200" cy="2476500"/>
              <a:chOff x="571500" y="1619250"/>
              <a:chExt cx="1600200" cy="2476500"/>
            </a:xfrm>
          </p:grpSpPr>
          <p:sp>
            <p:nvSpPr>
              <p:cNvPr id="6" name="Rectangle 6"/>
              <p:cNvSpPr/>
              <p:nvPr/>
            </p:nvSpPr>
            <p:spPr>
              <a:xfrm>
                <a:off x="571500" y="1619250"/>
                <a:ext cx="1600200" cy="2476500"/>
              </a:xfrm>
              <a:prstGeom prst="roundRect">
                <a:avLst>
                  <a:gd name="adj" fmla="val 7143"/>
                </a:avLst>
              </a:prstGeom>
              <a:solidFill>
                <a:srgbClr val="F4F6FA"/>
              </a:solidFill>
              <a:ln>
                <a:noFill/>
              </a:ln>
            </p:spPr>
          </p:sp>
          <p:sp>
            <p:nvSpPr>
              <p:cNvPr id="7" name="Rectangle 7"/>
              <p:cNvSpPr/>
              <p:nvPr/>
            </p:nvSpPr>
            <p:spPr>
              <a:xfrm>
                <a:off x="571500" y="1619250"/>
                <a:ext cx="1600200" cy="495300"/>
              </a:xfrm>
              <a:prstGeom prst="roundRect">
                <a:avLst>
                  <a:gd name="adj" fmla="val 23077"/>
                </a:avLst>
              </a:prstGeom>
              <a:solidFill>
                <a:srgbClr val="1F3864"/>
              </a:solidFill>
              <a:ln>
                <a:noFill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939927" y="1781175"/>
                <a:ext cx="863346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FFFFFF"/>
                    </a:solidFill>
                    <a:latin typeface="Microsoft YaHei"/>
                    <a:ea typeface="Microsoft YaHei"/>
                    <a:cs typeface="Microsoft YaHei"/>
                  </a:rPr>
                  <a:t>上传财报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913562" y="2640806"/>
                <a:ext cx="91607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dirty="0">
                    <a:solidFill>
                      <a:srgbClr val="5A6472"/>
                    </a:solidFill>
                    <a:latin typeface="Microsoft YaHei"/>
                    <a:ea typeface="Microsoft YaHei"/>
                    <a:cs typeface="Microsoft YaHei"/>
                  </a:rPr>
                  <a:t>投资经理上传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913562" y="2888456"/>
                <a:ext cx="91607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dirty="0">
                    <a:solidFill>
                      <a:srgbClr val="5A6472"/>
                    </a:solidFill>
                    <a:latin typeface="Microsoft YaHei"/>
                    <a:ea typeface="Microsoft YaHei"/>
                    <a:cs typeface="Microsoft YaHei"/>
                  </a:rPr>
                  <a:t>标的公司财报</a:t>
                </a:r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2400300" y="1619250"/>
              <a:ext cx="1600200" cy="2476500"/>
              <a:chOff x="2400300" y="1619250"/>
              <a:chExt cx="1600200" cy="2476500"/>
            </a:xfrm>
          </p:grpSpPr>
          <p:sp>
            <p:nvSpPr>
              <p:cNvPr id="12" name="Rectangle 12"/>
              <p:cNvSpPr/>
              <p:nvPr/>
            </p:nvSpPr>
            <p:spPr>
              <a:xfrm>
                <a:off x="2400300" y="1619250"/>
                <a:ext cx="1600200" cy="2476500"/>
              </a:xfrm>
              <a:prstGeom prst="roundRect">
                <a:avLst>
                  <a:gd name="adj" fmla="val 7143"/>
                </a:avLst>
              </a:prstGeom>
              <a:solidFill>
                <a:srgbClr val="F4F6FA"/>
              </a:solidFill>
              <a:ln>
                <a:noFill/>
              </a:ln>
            </p:spPr>
          </p:sp>
          <p:sp>
            <p:nvSpPr>
              <p:cNvPr id="13" name="Rectangle 13"/>
              <p:cNvSpPr/>
              <p:nvPr/>
            </p:nvSpPr>
            <p:spPr>
              <a:xfrm>
                <a:off x="2400300" y="1619250"/>
                <a:ext cx="1600200" cy="495300"/>
              </a:xfrm>
              <a:prstGeom prst="roundRect">
                <a:avLst>
                  <a:gd name="adj" fmla="val 23077"/>
                </a:avLst>
              </a:prstGeom>
              <a:solidFill>
                <a:srgbClr val="2E5FA3"/>
              </a:solidFill>
              <a:ln>
                <a:noFill/>
              </a:ln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2980754" y="1781175"/>
                <a:ext cx="439293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FFFFFF"/>
                    </a:solidFill>
                    <a:latin typeface="Microsoft YaHei"/>
                    <a:ea typeface="Microsoft YaHei"/>
                    <a:cs typeface="Microsoft YaHei"/>
                  </a:rPr>
                  <a:t>解析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2636820" y="2640806"/>
                <a:ext cx="112716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dirty="0">
                    <a:solidFill>
                      <a:srgbClr val="5A6472"/>
                    </a:solidFill>
                    <a:latin typeface="Microsoft YaHei"/>
                    <a:ea typeface="Microsoft YaHei"/>
                    <a:cs typeface="Microsoft YaHei"/>
                  </a:rPr>
                  <a:t>文档/表格抽取 →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2422037" y="2888456"/>
                <a:ext cx="1556725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dirty="0">
                    <a:solidFill>
                      <a:srgbClr val="5A6472"/>
                    </a:solidFill>
                    <a:latin typeface="Microsoft YaHei"/>
                    <a:ea typeface="Microsoft YaHei"/>
                    <a:cs typeface="Microsoft YaHei"/>
                  </a:rPr>
                  <a:t>三大报表结构化 JSON</a:t>
                </a:r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4229100" y="1619250"/>
              <a:ext cx="1600200" cy="2476500"/>
              <a:chOff x="4229100" y="1619250"/>
              <a:chExt cx="1600200" cy="247650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4229100" y="1619250"/>
                <a:ext cx="1600200" cy="2476500"/>
              </a:xfrm>
              <a:prstGeom prst="roundRect">
                <a:avLst>
                  <a:gd name="adj" fmla="val 7143"/>
                </a:avLst>
              </a:prstGeom>
              <a:solidFill>
                <a:srgbClr val="F4F6FA"/>
              </a:solidFill>
              <a:ln>
                <a:noFill/>
              </a:ln>
            </p:spPr>
          </p:sp>
          <p:sp>
            <p:nvSpPr>
              <p:cNvPr id="19" name="Rectangle 19"/>
              <p:cNvSpPr/>
              <p:nvPr/>
            </p:nvSpPr>
            <p:spPr>
              <a:xfrm>
                <a:off x="4229100" y="1619250"/>
                <a:ext cx="1600200" cy="495300"/>
              </a:xfrm>
              <a:prstGeom prst="roundRect">
                <a:avLst>
                  <a:gd name="adj" fmla="val 23077"/>
                </a:avLst>
              </a:prstGeom>
              <a:solidFill>
                <a:srgbClr val="2E5FA3"/>
              </a:solidFill>
              <a:ln>
                <a:noFill/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4809554" y="1781175"/>
                <a:ext cx="439293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FFFFFF"/>
                    </a:solidFill>
                    <a:latin typeface="Microsoft YaHei"/>
                    <a:ea typeface="Microsoft YaHei"/>
                    <a:cs typeface="Microsoft YaHei"/>
                  </a:rPr>
                  <a:t>计算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4601317" y="2640806"/>
                <a:ext cx="855767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dirty="0">
                    <a:solidFill>
                      <a:srgbClr val="5A6472"/>
                    </a:solidFill>
                    <a:latin typeface="Microsoft YaHei"/>
                    <a:ea typeface="Microsoft YaHei"/>
                    <a:cs typeface="Microsoft YaHei"/>
                  </a:rPr>
                  <a:t>pandas 计算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4495775" y="2888456"/>
                <a:ext cx="106685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dirty="0">
                    <a:solidFill>
                      <a:srgbClr val="5A6472"/>
                    </a:solidFill>
                    <a:latin typeface="Microsoft YaHei"/>
                    <a:ea typeface="Microsoft YaHei"/>
                    <a:cs typeface="Microsoft YaHei"/>
                  </a:rPr>
                  <a:t>五大类财务指标</a:t>
                </a:r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>
              <a:off x="6057900" y="1619250"/>
              <a:ext cx="1600200" cy="2476500"/>
              <a:chOff x="6057900" y="1619250"/>
              <a:chExt cx="1600200" cy="2476500"/>
            </a:xfrm>
          </p:grpSpPr>
          <p:sp>
            <p:nvSpPr>
              <p:cNvPr id="24" name="Rectangle 24"/>
              <p:cNvSpPr/>
              <p:nvPr/>
            </p:nvSpPr>
            <p:spPr>
              <a:xfrm>
                <a:off x="6057900" y="1619250"/>
                <a:ext cx="1600200" cy="2476500"/>
              </a:xfrm>
              <a:prstGeom prst="roundRect">
                <a:avLst>
                  <a:gd name="adj" fmla="val 7143"/>
                </a:avLst>
              </a:prstGeom>
              <a:solidFill>
                <a:srgbClr val="F4F6FA"/>
              </a:solidFill>
              <a:ln>
                <a:noFill/>
              </a:ln>
            </p:spPr>
          </p:sp>
          <p:sp>
            <p:nvSpPr>
              <p:cNvPr id="25" name="Rectangle 25"/>
              <p:cNvSpPr/>
              <p:nvPr/>
            </p:nvSpPr>
            <p:spPr>
              <a:xfrm>
                <a:off x="6057900" y="1619250"/>
                <a:ext cx="1600200" cy="495300"/>
              </a:xfrm>
              <a:prstGeom prst="roundRect">
                <a:avLst>
                  <a:gd name="adj" fmla="val 23077"/>
                </a:avLst>
              </a:prstGeom>
              <a:solidFill>
                <a:srgbClr val="2E5FA3"/>
              </a:solidFill>
              <a:ln>
                <a:noFill/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6638354" y="1781175"/>
                <a:ext cx="439293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FFFFFF"/>
                    </a:solidFill>
                    <a:latin typeface="Microsoft YaHei"/>
                    <a:ea typeface="Microsoft YaHei"/>
                    <a:cs typeface="Microsoft YaHei"/>
                  </a:rPr>
                  <a:t>匹配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6162492" y="2640806"/>
                <a:ext cx="139101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dirty="0">
                    <a:solidFill>
                      <a:srgbClr val="5A6472"/>
                    </a:solidFill>
                    <a:latin typeface="Microsoft YaHei"/>
                    <a:ea typeface="Microsoft YaHei"/>
                    <a:cs typeface="Microsoft YaHei"/>
                  </a:rPr>
                  <a:t>规则引擎 + 行业基准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6399962" y="2888456"/>
                <a:ext cx="91607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dirty="0">
                    <a:solidFill>
                      <a:srgbClr val="5A6472"/>
                    </a:solidFill>
                    <a:latin typeface="Microsoft YaHei"/>
                    <a:ea typeface="Microsoft YaHei"/>
                    <a:cs typeface="Microsoft YaHei"/>
                  </a:rPr>
                  <a:t>命中风险规则</a:t>
                </a:r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7886700" y="1619250"/>
              <a:ext cx="1600200" cy="2476500"/>
              <a:chOff x="7886700" y="1619250"/>
              <a:chExt cx="1600200" cy="2476500"/>
            </a:xfrm>
          </p:grpSpPr>
          <p:sp>
            <p:nvSpPr>
              <p:cNvPr id="30" name="Rectangle 30"/>
              <p:cNvSpPr/>
              <p:nvPr/>
            </p:nvSpPr>
            <p:spPr>
              <a:xfrm>
                <a:off x="7886700" y="1619250"/>
                <a:ext cx="1600200" cy="2476500"/>
              </a:xfrm>
              <a:prstGeom prst="roundRect">
                <a:avLst>
                  <a:gd name="adj" fmla="val 7143"/>
                </a:avLst>
              </a:prstGeom>
              <a:solidFill>
                <a:srgbClr val="F4F6FA"/>
              </a:solidFill>
              <a:ln>
                <a:noFill/>
              </a:ln>
            </p:spPr>
          </p:sp>
          <p:sp>
            <p:nvSpPr>
              <p:cNvPr id="31" name="Rectangle 31"/>
              <p:cNvSpPr/>
              <p:nvPr/>
            </p:nvSpPr>
            <p:spPr>
              <a:xfrm>
                <a:off x="7886700" y="1619250"/>
                <a:ext cx="1600200" cy="495300"/>
              </a:xfrm>
              <a:prstGeom prst="roundRect">
                <a:avLst>
                  <a:gd name="adj" fmla="val 23077"/>
                </a:avLst>
              </a:prstGeom>
              <a:solidFill>
                <a:srgbClr val="C08A3A"/>
              </a:solidFill>
              <a:ln>
                <a:noFill/>
              </a:ln>
            </p:spPr>
          </p:sp>
          <p:sp>
            <p:nvSpPr>
              <p:cNvPr id="32" name="TextBox 32"/>
              <p:cNvSpPr txBox="1"/>
              <p:nvPr/>
            </p:nvSpPr>
            <p:spPr>
              <a:xfrm>
                <a:off x="8467154" y="1781175"/>
                <a:ext cx="439293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FFFFFF"/>
                    </a:solidFill>
                    <a:latin typeface="Microsoft YaHei"/>
                    <a:ea typeface="Microsoft YaHei"/>
                    <a:cs typeface="Microsoft YaHei"/>
                  </a:rPr>
                  <a:t>研判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8191210" y="2640806"/>
                <a:ext cx="991179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dirty="0">
                    <a:solidFill>
                      <a:srgbClr val="5A6472"/>
                    </a:solidFill>
                    <a:latin typeface="Microsoft YaHei"/>
                    <a:ea typeface="Microsoft YaHei"/>
                    <a:cs typeface="Microsoft YaHei"/>
                  </a:rPr>
                  <a:t>LLM 归因分析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8153375" y="2888456"/>
                <a:ext cx="106685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dirty="0">
                    <a:solidFill>
                      <a:srgbClr val="5A6472"/>
                    </a:solidFill>
                    <a:latin typeface="Microsoft YaHei"/>
                    <a:ea typeface="Microsoft YaHei"/>
                    <a:cs typeface="Microsoft YaHei"/>
                  </a:rPr>
                  <a:t>风险提示带证据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9715500" y="1619250"/>
              <a:ext cx="1905000" cy="2476500"/>
              <a:chOff x="9715500" y="1619250"/>
              <a:chExt cx="1905000" cy="2476500"/>
            </a:xfrm>
          </p:grpSpPr>
          <p:sp>
            <p:nvSpPr>
              <p:cNvPr id="36" name="Rectangle 36"/>
              <p:cNvSpPr/>
              <p:nvPr/>
            </p:nvSpPr>
            <p:spPr>
              <a:xfrm>
                <a:off x="9715500" y="1619250"/>
                <a:ext cx="1905000" cy="2476500"/>
              </a:xfrm>
              <a:prstGeom prst="roundRect">
                <a:avLst>
                  <a:gd name="adj" fmla="val 6000"/>
                </a:avLst>
              </a:prstGeom>
              <a:solidFill>
                <a:srgbClr val="F4F6FA"/>
              </a:solidFill>
              <a:ln>
                <a:noFill/>
              </a:ln>
            </p:spPr>
          </p:sp>
          <p:sp>
            <p:nvSpPr>
              <p:cNvPr id="37" name="Rectangle 37"/>
              <p:cNvSpPr/>
              <p:nvPr/>
            </p:nvSpPr>
            <p:spPr>
              <a:xfrm>
                <a:off x="9715500" y="1619250"/>
                <a:ext cx="1905000" cy="495300"/>
              </a:xfrm>
              <a:prstGeom prst="roundRect">
                <a:avLst>
                  <a:gd name="adj" fmla="val 23077"/>
                </a:avLst>
              </a:prstGeom>
              <a:solidFill>
                <a:srgbClr val="C08A3A"/>
              </a:solidFill>
              <a:ln>
                <a:noFill/>
              </a:ln>
            </p:spPr>
          </p:sp>
          <p:sp>
            <p:nvSpPr>
              <p:cNvPr id="38" name="TextBox 38"/>
              <p:cNvSpPr txBox="1"/>
              <p:nvPr/>
            </p:nvSpPr>
            <p:spPr>
              <a:xfrm>
                <a:off x="10448354" y="1781175"/>
                <a:ext cx="439293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FFFFFF"/>
                    </a:solidFill>
                    <a:latin typeface="Microsoft YaHei"/>
                    <a:ea typeface="Microsoft YaHei"/>
                    <a:cs typeface="Microsoft YaHei"/>
                  </a:rPr>
                  <a:t>输出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9897105" y="2640806"/>
                <a:ext cx="154179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dirty="0">
                    <a:solidFill>
                      <a:srgbClr val="5A6472"/>
                    </a:solidFill>
                    <a:latin typeface="Microsoft YaHei"/>
                    <a:ea typeface="Microsoft YaHei"/>
                    <a:cs typeface="Microsoft YaHei"/>
                  </a:rPr>
                  <a:t>尽调报告：评分 + 清单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10059187" y="2888456"/>
                <a:ext cx="1217625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dirty="0">
                    <a:solidFill>
                      <a:srgbClr val="5A6472"/>
                    </a:solidFill>
                    <a:latin typeface="Microsoft YaHei"/>
                    <a:ea typeface="Microsoft YaHei"/>
                    <a:cs typeface="Microsoft YaHei"/>
                  </a:rPr>
                  <a:t>+ 结论 + 免责声明</a:t>
                </a:r>
              </a:p>
            </p:txBody>
          </p:sp>
        </p:grpSp>
        <p:grpSp>
          <p:nvGrpSpPr>
            <p:cNvPr id="47" name="Group 47"/>
            <p:cNvGrpSpPr/>
            <p:nvPr/>
          </p:nvGrpSpPr>
          <p:grpSpPr>
            <a:xfrm>
              <a:off x="2190750" y="2857500"/>
              <a:ext cx="7467600" cy="152400"/>
              <a:chOff x="2190750" y="2857500"/>
              <a:chExt cx="7467600" cy="15240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2190750" y="2857500"/>
                <a:ext cx="1524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52400">
                    <a:moveTo>
                      <a:pt x="0" y="0"/>
                    </a:moveTo>
                    <a:lnTo>
                      <a:pt x="152400" y="76200"/>
                    </a:lnTo>
                    <a:lnTo>
                      <a:pt x="0" y="152400"/>
                    </a:lnTo>
                  </a:path>
                </a:pathLst>
              </a:custGeom>
              <a:noFill/>
              <a:ln w="28575">
                <a:solidFill>
                  <a:srgbClr val="C08A3A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4019550" y="2857500"/>
                <a:ext cx="1524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52400">
                    <a:moveTo>
                      <a:pt x="0" y="0"/>
                    </a:moveTo>
                    <a:lnTo>
                      <a:pt x="152400" y="76200"/>
                    </a:lnTo>
                    <a:lnTo>
                      <a:pt x="0" y="152400"/>
                    </a:lnTo>
                  </a:path>
                </a:pathLst>
              </a:custGeom>
              <a:noFill/>
              <a:ln w="28575">
                <a:solidFill>
                  <a:srgbClr val="C08A3A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5848350" y="2857500"/>
                <a:ext cx="1524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52400">
                    <a:moveTo>
                      <a:pt x="0" y="0"/>
                    </a:moveTo>
                    <a:lnTo>
                      <a:pt x="152400" y="76200"/>
                    </a:lnTo>
                    <a:lnTo>
                      <a:pt x="0" y="152400"/>
                    </a:lnTo>
                  </a:path>
                </a:pathLst>
              </a:custGeom>
              <a:noFill/>
              <a:ln w="28575">
                <a:solidFill>
                  <a:srgbClr val="C08A3A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7677150" y="2857500"/>
                <a:ext cx="1524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52400">
                    <a:moveTo>
                      <a:pt x="0" y="0"/>
                    </a:moveTo>
                    <a:lnTo>
                      <a:pt x="152400" y="76200"/>
                    </a:lnTo>
                    <a:lnTo>
                      <a:pt x="0" y="152400"/>
                    </a:lnTo>
                  </a:path>
                </a:pathLst>
              </a:custGeom>
              <a:noFill/>
              <a:ln w="28575">
                <a:solidFill>
                  <a:srgbClr val="C08A3A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9505950" y="2857500"/>
                <a:ext cx="1524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52400">
                    <a:moveTo>
                      <a:pt x="0" y="0"/>
                    </a:moveTo>
                    <a:lnTo>
                      <a:pt x="152400" y="76200"/>
                    </a:lnTo>
                    <a:lnTo>
                      <a:pt x="0" y="152400"/>
                    </a:lnTo>
                  </a:path>
                </a:pathLst>
              </a:custGeom>
              <a:noFill/>
              <a:ln w="28575">
                <a:solidFill>
                  <a:srgbClr val="C08A3A"/>
                </a:solidFill>
              </a:ln>
            </p:spPr>
          </p:sp>
        </p:grpSp>
      </p:grpSp>
      <p:grpSp>
        <p:nvGrpSpPr>
          <p:cNvPr id="54" name="Group 54"/>
          <p:cNvGrpSpPr/>
          <p:nvPr/>
        </p:nvGrpSpPr>
        <p:grpSpPr>
          <a:xfrm>
            <a:off x="571500" y="4953000"/>
            <a:ext cx="11049000" cy="1238250"/>
            <a:chOff x="571500" y="4953000"/>
            <a:chExt cx="11049000" cy="1238250"/>
          </a:xfrm>
        </p:grpSpPr>
        <p:sp>
          <p:nvSpPr>
            <p:cNvPr id="49" name="Rectangle 49"/>
            <p:cNvSpPr/>
            <p:nvPr/>
          </p:nvSpPr>
          <p:spPr>
            <a:xfrm>
              <a:off x="571500" y="4953000"/>
              <a:ext cx="11049000" cy="1238250"/>
            </a:xfrm>
            <a:prstGeom prst="roundRect">
              <a:avLst>
                <a:gd name="adj" fmla="val 10769"/>
              </a:avLst>
            </a:prstGeom>
            <a:solidFill>
              <a:srgbClr val="F4F6F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906399" y="5278279"/>
              <a:ext cx="157934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1F3864"/>
                  </a:solidFill>
                  <a:latin typeface="Microsoft YaHei"/>
                  <a:ea typeface="Microsoft YaHei"/>
                  <a:cs typeface="Microsoft YaHei"/>
                </a:rPr>
                <a:t>不是「泛问答」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07923" y="5710714"/>
              <a:ext cx="65608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472"/>
                  </a:solidFill>
                  <a:latin typeface="Microsoft YaHei"/>
                  <a:ea typeface="Microsoft YaHei"/>
                  <a:cs typeface="Microsoft YaHei"/>
                </a:rPr>
                <a:t>不依赖用户逐条提问，而是端到端执行固定尽调工作流；计算与规则判定由代码保证，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07923" y="5710714"/>
              <a:ext cx="277536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E5FA3"/>
                  </a:solidFill>
                  <a:latin typeface="Microsoft YaHei"/>
                  <a:ea typeface="Microsoft YaHei"/>
                  <a:cs typeface="Microsoft YaHei"/>
                </a:rPr>
                <a:t>LLM 只做「理解 + 归因 + 表达」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07923" y="571071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472"/>
                  </a:solidFill>
                  <a:latin typeface="Microsoft YaHei"/>
                  <a:ea typeface="Microsoft YaHei"/>
                  <a:cs typeface="Microsoft YaHei"/>
                </a:rPr>
                <a:t>，结果可复现、可审计。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71500" y="476250"/>
            <a:ext cx="2935681" cy="651034"/>
            <a:chOff x="571500" y="476250"/>
            <a:chExt cx="2935681" cy="651034"/>
          </a:xfrm>
        </p:grpSpPr>
        <p:sp>
          <p:nvSpPr>
            <p:cNvPr id="2" name="Rectangle 2"/>
            <p:cNvSpPr/>
            <p:nvPr/>
          </p:nvSpPr>
          <p:spPr>
            <a:xfrm>
              <a:off x="571500" y="476250"/>
              <a:ext cx="57150" cy="381000"/>
            </a:xfrm>
            <a:prstGeom prst="rect">
              <a:avLst/>
            </a:prstGeom>
            <a:solidFill>
              <a:srgbClr val="C08A3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8858" y="521970"/>
              <a:ext cx="2738323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F3864"/>
                  </a:solidFill>
                  <a:latin typeface="Microsoft YaHei"/>
                  <a:ea typeface="Microsoft YaHei"/>
                  <a:cs typeface="Microsoft YaHei"/>
                </a:rPr>
                <a:t>与赛题验证点映射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5335" y="907256"/>
              <a:ext cx="18275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8A94A6"/>
                  </a:solidFill>
                  <a:latin typeface="Microsoft YaHei"/>
                  <a:ea typeface="Microsoft YaHei"/>
                  <a:cs typeface="Microsoft YaHei"/>
                </a:rPr>
                <a:t>AI+金融官方定位逐条对齐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762000" y="1619250"/>
            <a:ext cx="10668000" cy="4038600"/>
            <a:chOff x="762000" y="1619250"/>
            <a:chExt cx="10668000" cy="4038600"/>
          </a:xfrm>
        </p:grpSpPr>
        <p:sp>
          <p:nvSpPr>
            <p:cNvPr id="6" name="Rectangle 6"/>
            <p:cNvSpPr/>
            <p:nvPr/>
          </p:nvSpPr>
          <p:spPr>
            <a:xfrm>
              <a:off x="762000" y="1619250"/>
              <a:ext cx="10668000" cy="6096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135761" y="1846421"/>
              <a:ext cx="101807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赛题验证点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374261" y="1846421"/>
              <a:ext cx="14195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本方案对应能力</a:t>
              </a:r>
            </a:p>
          </p:txBody>
        </p:sp>
        <p:grpSp>
          <p:nvGrpSpPr>
            <p:cNvPr id="12" name="Group 12"/>
            <p:cNvGrpSpPr/>
            <p:nvPr/>
          </p:nvGrpSpPr>
          <p:grpSpPr>
            <a:xfrm>
              <a:off x="762000" y="2228850"/>
              <a:ext cx="10668000" cy="685800"/>
              <a:chOff x="762000" y="2228850"/>
              <a:chExt cx="10668000" cy="685800"/>
            </a:xfrm>
          </p:grpSpPr>
          <p:sp>
            <p:nvSpPr>
              <p:cNvPr id="9" name="Rectangle 9"/>
              <p:cNvSpPr/>
              <p:nvPr/>
            </p:nvSpPr>
            <p:spPr>
              <a:xfrm>
                <a:off x="762000" y="2228850"/>
                <a:ext cx="10668000" cy="685800"/>
              </a:xfrm>
              <a:prstGeom prst="rect">
                <a:avLst/>
              </a:prstGeom>
              <a:solidFill>
                <a:srgbClr val="F4F6FA"/>
              </a:solidFill>
              <a:ln>
                <a:noFill/>
              </a:ln>
            </p:spPr>
          </p:sp>
          <p:sp>
            <p:nvSpPr>
              <p:cNvPr id="10" name="TextBox 10"/>
              <p:cNvSpPr txBox="1"/>
              <p:nvPr/>
            </p:nvSpPr>
            <p:spPr>
              <a:xfrm>
                <a:off x="1136142" y="2502218"/>
                <a:ext cx="77701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F3864"/>
                    </a:solidFill>
                    <a:latin typeface="Microsoft YaHei"/>
                    <a:ea typeface="Microsoft YaHei"/>
                    <a:cs typeface="Microsoft YaHei"/>
                  </a:rPr>
                  <a:t>资料理解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4375023" y="2510314"/>
                <a:ext cx="3312759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80" dirty="0">
                    <a:solidFill>
                      <a:srgbClr val="4A5464"/>
                    </a:solidFill>
                    <a:latin typeface="Microsoft YaHei"/>
                    <a:ea typeface="Microsoft YaHei"/>
                    <a:cs typeface="Microsoft YaHei"/>
                  </a:rPr>
                  <a:t>三大报表结构化抽取（文本 + 视觉双通道）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762000" y="2914650"/>
              <a:ext cx="10668000" cy="685800"/>
              <a:chOff x="762000" y="2914650"/>
              <a:chExt cx="10668000" cy="685800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762000" y="2914650"/>
                <a:ext cx="10668000" cy="685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1136142" y="3188018"/>
                <a:ext cx="77701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F3864"/>
                    </a:solidFill>
                    <a:latin typeface="Microsoft YaHei"/>
                    <a:ea typeface="Microsoft YaHei"/>
                    <a:cs typeface="Microsoft YaHei"/>
                  </a:rPr>
                  <a:t>规则匹配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4375023" y="3196114"/>
                <a:ext cx="2968132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80" dirty="0">
                    <a:solidFill>
                      <a:srgbClr val="4A5464"/>
                    </a:solidFill>
                    <a:latin typeface="Microsoft YaHei"/>
                    <a:ea typeface="Microsoft YaHei"/>
                    <a:cs typeface="Microsoft YaHei"/>
                  </a:rPr>
                  <a:t>可配置风控规则引擎 + 行业基准库比对</a:t>
                </a:r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>
              <a:off x="762000" y="3600450"/>
              <a:ext cx="10668000" cy="685800"/>
              <a:chOff x="762000" y="3600450"/>
              <a:chExt cx="10668000" cy="685800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762000" y="3600450"/>
                <a:ext cx="10668000" cy="685800"/>
              </a:xfrm>
              <a:prstGeom prst="rect">
                <a:avLst/>
              </a:prstGeom>
              <a:solidFill>
                <a:srgbClr val="F4F6FA"/>
              </a:solidFill>
              <a:ln>
                <a:noFill/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1136142" y="3873818"/>
                <a:ext cx="77701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F3864"/>
                    </a:solidFill>
                    <a:latin typeface="Microsoft YaHei"/>
                    <a:ea typeface="Microsoft YaHei"/>
                    <a:cs typeface="Microsoft YaHei"/>
                  </a:rPr>
                  <a:t>风险提示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4375023" y="3881914"/>
                <a:ext cx="3459226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80" dirty="0">
                    <a:solidFill>
                      <a:srgbClr val="4A5464"/>
                    </a:solidFill>
                    <a:latin typeface="Microsoft YaHei"/>
                    <a:ea typeface="Microsoft YaHei"/>
                    <a:cs typeface="Microsoft YaHei"/>
                  </a:rPr>
                  <a:t>命中项归因分析，输出带证据引用的风险清单</a:t>
                </a:r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762000" y="4286250"/>
              <a:ext cx="10668000" cy="685800"/>
              <a:chOff x="762000" y="4286250"/>
              <a:chExt cx="10668000" cy="685800"/>
            </a:xfrm>
          </p:grpSpPr>
          <p:sp>
            <p:nvSpPr>
              <p:cNvPr id="21" name="Rectangle 21"/>
              <p:cNvSpPr/>
              <p:nvPr/>
            </p:nvSpPr>
            <p:spPr>
              <a:xfrm>
                <a:off x="762000" y="4286250"/>
                <a:ext cx="10668000" cy="685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1136142" y="4559618"/>
                <a:ext cx="77701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F3864"/>
                    </a:solidFill>
                    <a:latin typeface="Microsoft YaHei"/>
                    <a:ea typeface="Microsoft YaHei"/>
                    <a:cs typeface="Microsoft YaHei"/>
                  </a:rPr>
                  <a:t>投研整理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4375023" y="4567714"/>
                <a:ext cx="2080717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80" dirty="0">
                    <a:solidFill>
                      <a:srgbClr val="4A5464"/>
                    </a:solidFill>
                    <a:latin typeface="Microsoft YaHei"/>
                    <a:ea typeface="Microsoft YaHei"/>
                    <a:cs typeface="Microsoft YaHei"/>
                  </a:rPr>
                  <a:t>自动汇总为结构化尽调报告</a:t>
                </a:r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762000" y="4972050"/>
              <a:ext cx="10668000" cy="685800"/>
              <a:chOff x="762000" y="4972050"/>
              <a:chExt cx="10668000" cy="685800"/>
            </a:xfrm>
          </p:grpSpPr>
          <p:sp>
            <p:nvSpPr>
              <p:cNvPr id="25" name="Rectangle 25"/>
              <p:cNvSpPr/>
              <p:nvPr/>
            </p:nvSpPr>
            <p:spPr>
              <a:xfrm>
                <a:off x="762000" y="4972050"/>
                <a:ext cx="10668000" cy="685800"/>
              </a:xfrm>
              <a:prstGeom prst="rect">
                <a:avLst/>
              </a:prstGeom>
              <a:solidFill>
                <a:srgbClr val="F4F6FA"/>
              </a:solidFill>
              <a:ln>
                <a:noFill/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1136142" y="5245418"/>
                <a:ext cx="77701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F3864"/>
                    </a:solidFill>
                    <a:latin typeface="Microsoft YaHei"/>
                    <a:ea typeface="Microsoft YaHei"/>
                    <a:cs typeface="Microsoft YaHei"/>
                  </a:rPr>
                  <a:t>流程辅助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4375023" y="5253514"/>
                <a:ext cx="2769972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80" dirty="0">
                    <a:solidFill>
                      <a:srgbClr val="4A5464"/>
                    </a:solidFill>
                    <a:latin typeface="Microsoft YaHei"/>
                    <a:ea typeface="Microsoft YaHei"/>
                    <a:cs typeface="Microsoft YaHei"/>
                  </a:rPr>
                  <a:t>多步编排工作流，替代人工通读建表</a:t>
                </a:r>
              </a:p>
            </p:txBody>
          </p:sp>
        </p:grp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71500" y="476250"/>
            <a:ext cx="1896400" cy="651034"/>
            <a:chOff x="571500" y="476250"/>
            <a:chExt cx="1896400" cy="651034"/>
          </a:xfrm>
        </p:grpSpPr>
        <p:sp>
          <p:nvSpPr>
            <p:cNvPr id="2" name="Rectangle 2"/>
            <p:cNvSpPr/>
            <p:nvPr/>
          </p:nvSpPr>
          <p:spPr>
            <a:xfrm>
              <a:off x="571500" y="476250"/>
              <a:ext cx="57150" cy="381000"/>
            </a:xfrm>
            <a:prstGeom prst="rect">
              <a:avLst/>
            </a:prstGeom>
            <a:solidFill>
              <a:srgbClr val="C08A3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8858" y="521970"/>
              <a:ext cx="138135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F3864"/>
                  </a:solidFill>
                  <a:latin typeface="Microsoft YaHei"/>
                  <a:ea typeface="Microsoft YaHei"/>
                  <a:cs typeface="Microsoft YaHei"/>
                </a:rPr>
                <a:t>技术方案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5335" y="907256"/>
              <a:ext cx="16925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8A94A6"/>
                  </a:solidFill>
                  <a:latin typeface="Microsoft YaHei"/>
                  <a:ea typeface="Microsoft YaHei"/>
                  <a:cs typeface="Microsoft YaHei"/>
                </a:rPr>
                <a:t>计算与推理分离 · 全开源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71500" y="1428750"/>
            <a:ext cx="11049000" cy="857250"/>
            <a:chOff x="571500" y="1428750"/>
            <a:chExt cx="11049000" cy="857250"/>
          </a:xfrm>
        </p:grpSpPr>
        <p:sp>
          <p:nvSpPr>
            <p:cNvPr id="6" name="Rectangle 6"/>
            <p:cNvSpPr/>
            <p:nvPr/>
          </p:nvSpPr>
          <p:spPr>
            <a:xfrm>
              <a:off x="571500" y="1428750"/>
              <a:ext cx="11049000" cy="857250"/>
            </a:xfrm>
            <a:prstGeom prst="roundRect">
              <a:avLst>
                <a:gd name="adj" fmla="val 13333"/>
              </a:avLst>
            </a:prstGeom>
            <a:solidFill>
              <a:srgbClr val="1F3864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06399" y="1715929"/>
              <a:ext cx="256012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LangGraph 状态机编排层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08304" y="2023110"/>
              <a:ext cx="38488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C9D6EA"/>
                  </a:solidFill>
                  <a:latin typeface="Microsoft YaHei"/>
                  <a:ea typeface="Microsoft YaHei"/>
                  <a:cs typeface="Microsoft YaHei"/>
                </a:rPr>
                <a:t>解析 → 抽取 → 计算 → 规则匹配 → 风险研判 → 报告生成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571500" y="2571750"/>
            <a:ext cx="2619375" cy="1809750"/>
            <a:chOff x="571500" y="2571750"/>
            <a:chExt cx="2619375" cy="1809750"/>
          </a:xfrm>
        </p:grpSpPr>
        <p:sp>
          <p:nvSpPr>
            <p:cNvPr id="10" name="Rectangle 10"/>
            <p:cNvSpPr/>
            <p:nvPr/>
          </p:nvSpPr>
          <p:spPr>
            <a:xfrm>
              <a:off x="571500" y="2571750"/>
              <a:ext cx="2619375" cy="1809750"/>
            </a:xfrm>
            <a:prstGeom prst="roundRect">
              <a:avLst>
                <a:gd name="adj" fmla="val 6316"/>
              </a:avLst>
            </a:prstGeom>
            <a:solidFill>
              <a:srgbClr val="F4F6FA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571500" y="2571750"/>
              <a:ext cx="2619375" cy="57150"/>
            </a:xfrm>
            <a:prstGeom prst="roundRect">
              <a:avLst>
                <a:gd name="adj" fmla="val 50000"/>
              </a:avLst>
            </a:prstGeom>
            <a:solidFill>
              <a:srgbClr val="2E5FA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11911" y="2989421"/>
              <a:ext cx="101807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3864"/>
                  </a:solidFill>
                  <a:latin typeface="Microsoft YaHei"/>
                  <a:ea typeface="Microsoft YaHei"/>
                  <a:cs typeface="Microsoft YaHei"/>
                </a:rPr>
                <a:t>文档解析层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13435" y="3421856"/>
              <a:ext cx="16439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5A6472"/>
                  </a:solidFill>
                  <a:latin typeface="Microsoft YaHei"/>
                  <a:ea typeface="Microsoft YaHei"/>
                  <a:cs typeface="Microsoft YaHei"/>
                </a:rPr>
                <a:t>pdfplumber / PyMuPDF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13435" y="3669506"/>
              <a:ext cx="14455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A6472"/>
                  </a:solidFill>
                  <a:latin typeface="Microsoft YaHei"/>
                  <a:ea typeface="Microsoft YaHei"/>
                  <a:cs typeface="Microsoft YaHei"/>
                </a:rPr>
                <a:t>Qwen-VL（扫描件）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3381375" y="2571750"/>
            <a:ext cx="2619375" cy="1809750"/>
            <a:chOff x="3381375" y="2571750"/>
            <a:chExt cx="2619375" cy="1809750"/>
          </a:xfrm>
        </p:grpSpPr>
        <p:sp>
          <p:nvSpPr>
            <p:cNvPr id="16" name="Rectangle 16"/>
            <p:cNvSpPr/>
            <p:nvPr/>
          </p:nvSpPr>
          <p:spPr>
            <a:xfrm>
              <a:off x="3381375" y="2571750"/>
              <a:ext cx="2619375" cy="1809750"/>
            </a:xfrm>
            <a:prstGeom prst="roundRect">
              <a:avLst>
                <a:gd name="adj" fmla="val 6316"/>
              </a:avLst>
            </a:prstGeom>
            <a:solidFill>
              <a:srgbClr val="F4F6F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3381375" y="2571750"/>
              <a:ext cx="2619375" cy="57150"/>
            </a:xfrm>
            <a:prstGeom prst="roundRect">
              <a:avLst>
                <a:gd name="adj" fmla="val 50000"/>
              </a:avLst>
            </a:prstGeom>
            <a:solidFill>
              <a:srgbClr val="2E5FA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3621786" y="2989421"/>
              <a:ext cx="101807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3864"/>
                  </a:solidFill>
                  <a:latin typeface="Microsoft YaHei"/>
                  <a:ea typeface="Microsoft YaHei"/>
                  <a:cs typeface="Microsoft YaHei"/>
                </a:rPr>
                <a:t>结构化抽取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23310" y="3421856"/>
              <a:ext cx="6842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5A6472"/>
                  </a:solidFill>
                  <a:latin typeface="Microsoft YaHei"/>
                  <a:ea typeface="Microsoft YaHei"/>
                  <a:cs typeface="Microsoft YaHei"/>
                </a:rPr>
                <a:t>DeepSeek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23310" y="3669506"/>
              <a:ext cx="13292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A6472"/>
                  </a:solidFill>
                  <a:latin typeface="Microsoft YaHei"/>
                  <a:ea typeface="Microsoft YaHei"/>
                  <a:cs typeface="Microsoft YaHei"/>
                </a:rPr>
                <a:t>JSON 输出 Schema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191250" y="2571750"/>
            <a:ext cx="2619375" cy="1809750"/>
            <a:chOff x="6191250" y="2571750"/>
            <a:chExt cx="2619375" cy="1809750"/>
          </a:xfrm>
        </p:grpSpPr>
        <p:sp>
          <p:nvSpPr>
            <p:cNvPr id="22" name="Rectangle 22"/>
            <p:cNvSpPr/>
            <p:nvPr/>
          </p:nvSpPr>
          <p:spPr>
            <a:xfrm>
              <a:off x="6191250" y="2571750"/>
              <a:ext cx="2619375" cy="1809750"/>
            </a:xfrm>
            <a:prstGeom prst="roundRect">
              <a:avLst>
                <a:gd name="adj" fmla="val 6316"/>
              </a:avLst>
            </a:prstGeom>
            <a:solidFill>
              <a:srgbClr val="F4F6F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191250" y="2571750"/>
              <a:ext cx="2619375" cy="57150"/>
            </a:xfrm>
            <a:prstGeom prst="roundRect">
              <a:avLst>
                <a:gd name="adj" fmla="val 50000"/>
              </a:avLst>
            </a:prstGeom>
            <a:solidFill>
              <a:srgbClr val="C08A3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31661" y="2989421"/>
              <a:ext cx="81735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3864"/>
                  </a:solidFill>
                  <a:latin typeface="Microsoft YaHei"/>
                  <a:ea typeface="Microsoft YaHei"/>
                  <a:cs typeface="Microsoft YaHei"/>
                </a:rPr>
                <a:t>指标计算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33185" y="3421856"/>
              <a:ext cx="1006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A6472"/>
                  </a:solidFill>
                  <a:latin typeface="Microsoft YaHei"/>
                  <a:ea typeface="Microsoft YaHei"/>
                  <a:cs typeface="Microsoft YaHei"/>
                </a:rPr>
                <a:t>pandas 纯代码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33185" y="3669506"/>
              <a:ext cx="9911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A6472"/>
                  </a:solidFill>
                  <a:latin typeface="Microsoft YaHei"/>
                  <a:ea typeface="Microsoft YaHei"/>
                  <a:cs typeface="Microsoft YaHei"/>
                </a:rPr>
                <a:t>数值不交 LLM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9001125" y="2571750"/>
            <a:ext cx="2619375" cy="1809750"/>
            <a:chOff x="9001125" y="2571750"/>
            <a:chExt cx="2619375" cy="1809750"/>
          </a:xfrm>
        </p:grpSpPr>
        <p:sp>
          <p:nvSpPr>
            <p:cNvPr id="28" name="Rectangle 28"/>
            <p:cNvSpPr/>
            <p:nvPr/>
          </p:nvSpPr>
          <p:spPr>
            <a:xfrm>
              <a:off x="9001125" y="2571750"/>
              <a:ext cx="2619375" cy="1809750"/>
            </a:xfrm>
            <a:prstGeom prst="roundRect">
              <a:avLst>
                <a:gd name="adj" fmla="val 6316"/>
              </a:avLst>
            </a:prstGeom>
            <a:solidFill>
              <a:srgbClr val="F4F6F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9001125" y="2571750"/>
              <a:ext cx="2619375" cy="57150"/>
            </a:xfrm>
            <a:prstGeom prst="roundRect">
              <a:avLst>
                <a:gd name="adj" fmla="val 50000"/>
              </a:avLst>
            </a:prstGeom>
            <a:solidFill>
              <a:srgbClr val="C08A3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241536" y="2989421"/>
              <a:ext cx="152990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3864"/>
                  </a:solidFill>
                  <a:latin typeface="Microsoft YaHei"/>
                  <a:ea typeface="Microsoft YaHei"/>
                  <a:cs typeface="Microsoft YaHei"/>
                </a:rPr>
                <a:t>规则引擎/知识库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243060" y="342185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A6472"/>
                  </a:solidFill>
                  <a:latin typeface="Microsoft YaHei"/>
                  <a:ea typeface="Microsoft YaHei"/>
                  <a:cs typeface="Microsoft YaHei"/>
                </a:rPr>
                <a:t>可配置规则库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243060" y="3669506"/>
              <a:ext cx="9593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A6472"/>
                  </a:solidFill>
                  <a:latin typeface="Microsoft YaHei"/>
                  <a:ea typeface="Microsoft YaHei"/>
                  <a:cs typeface="Microsoft YaHei"/>
                </a:rPr>
                <a:t>行业基准 RAG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565023" y="4891564"/>
            <a:ext cx="8905507" cy="611314"/>
            <a:chOff x="565023" y="4891564"/>
            <a:chExt cx="8905507" cy="611314"/>
          </a:xfrm>
        </p:grpSpPr>
        <p:sp>
          <p:nvSpPr>
            <p:cNvPr id="34" name="TextBox 34"/>
            <p:cNvSpPr txBox="1"/>
            <p:nvPr/>
          </p:nvSpPr>
          <p:spPr>
            <a:xfrm>
              <a:off x="565023" y="4891564"/>
              <a:ext cx="890550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3864"/>
                  </a:solidFill>
                  <a:latin typeface="Microsoft YaHei"/>
                  <a:ea typeface="Microsoft YaHei"/>
                  <a:cs typeface="Microsoft YaHei"/>
                </a:rPr>
                <a:t xml:space="preserve">技术选型　</a:t>
              </a:r>
              <a:r>
                <a:rPr lang="en-US" sz="1280" dirty="0">
                  <a:solidFill>
                    <a:srgbClr val="333333"/>
                  </a:solidFill>
                  <a:latin typeface="Microsoft YaHei"/>
                  <a:ea typeface="Microsoft YaHei"/>
                  <a:cs typeface="Microsoft YaHei"/>
                </a:rPr>
                <a:t xml:space="preserve"> </a:t>
              </a:r>
              <a:r>
                <a:rPr lang="zh-CN" sz="1280" dirty="0">
                  <a:solidFill>
                    <a:srgbClr val="333333"/>
                  </a:solidFill>
                  <a:latin typeface="Microsoft YaHei"/>
                  <a:ea typeface="Microsoft YaHei"/>
                  <a:cs typeface="Microsoft YaHei"/>
                </a:rPr>
                <a:t>LangGraph + DeepSeek（deepseek-chat / reasoner）+ Qwen-VL + pandas + 向量检索 + Streamlit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65023" y="5253514"/>
              <a:ext cx="7850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3864"/>
                  </a:solidFill>
                  <a:latin typeface="Microsoft YaHei"/>
                  <a:ea typeface="Microsoft YaHei"/>
                  <a:cs typeface="Microsoft YaHei"/>
                </a:rPr>
                <a:t xml:space="preserve">开源　</a:t>
              </a:r>
              <a:r>
                <a:rPr lang="en-US" sz="1280" dirty="0">
                  <a:solidFill>
                    <a:srgbClr val="333333"/>
                  </a:solidFill>
                  <a:latin typeface="Microsoft YaHei"/>
                  <a:ea typeface="Microsoft YaHei"/>
                  <a:cs typeface="Microsoft YaHei"/>
                </a:rPr>
                <a:t xml:space="preserve"> </a:t>
              </a:r>
              <a:r>
                <a:rPr lang="zh-CN" sz="1280" dirty="0">
                  <a:solidFill>
                    <a:srgbClr val="333333"/>
                  </a:solidFill>
                  <a:latin typeface="Microsoft YaHei"/>
                  <a:ea typeface="Microsoft YaHei"/>
                  <a:cs typeface="Microsoft YaHei"/>
                </a:rPr>
                <a:t>主推理模型用有开源权重的 DeepSeek / Qwen，编排与计算全为开源框架，代码可整体开源。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71500" y="476250"/>
            <a:ext cx="1270686" cy="651034"/>
            <a:chOff x="571500" y="476250"/>
            <a:chExt cx="1270686" cy="651034"/>
          </a:xfrm>
        </p:grpSpPr>
        <p:sp>
          <p:nvSpPr>
            <p:cNvPr id="2" name="Rectangle 2"/>
            <p:cNvSpPr/>
            <p:nvPr/>
          </p:nvSpPr>
          <p:spPr>
            <a:xfrm>
              <a:off x="571500" y="476250"/>
              <a:ext cx="57150" cy="381000"/>
            </a:xfrm>
            <a:prstGeom prst="rect">
              <a:avLst/>
            </a:prstGeom>
            <a:solidFill>
              <a:srgbClr val="C08A3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8858" y="521970"/>
              <a:ext cx="104211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F3864"/>
                  </a:solidFill>
                  <a:latin typeface="Microsoft YaHei"/>
                  <a:ea typeface="Microsoft YaHei"/>
                  <a:cs typeface="Microsoft YaHei"/>
                </a:rPr>
                <a:t>创新点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5335" y="90725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8A94A6"/>
                  </a:solidFill>
                  <a:latin typeface="Microsoft YaHei"/>
                  <a:ea typeface="Microsoft YaHei"/>
                  <a:cs typeface="Microsoft YaHei"/>
                </a:rPr>
                <a:t>四点差异化能力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71500" y="1428750"/>
            <a:ext cx="5429250" cy="2286000"/>
            <a:chOff x="571500" y="1428750"/>
            <a:chExt cx="5429250" cy="2286000"/>
          </a:xfrm>
        </p:grpSpPr>
        <p:sp>
          <p:nvSpPr>
            <p:cNvPr id="6" name="Rectangle 6"/>
            <p:cNvSpPr/>
            <p:nvPr/>
          </p:nvSpPr>
          <p:spPr>
            <a:xfrm>
              <a:off x="571500" y="1428750"/>
              <a:ext cx="5429250" cy="2286000"/>
            </a:xfrm>
            <a:prstGeom prst="roundRect">
              <a:avLst>
                <a:gd name="adj" fmla="val 5833"/>
              </a:avLst>
            </a:prstGeom>
            <a:solidFill>
              <a:srgbClr val="F4F6FA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857250" y="1762125"/>
              <a:ext cx="438150" cy="438150"/>
            </a:xfrm>
            <a:prstGeom prst="roundRect">
              <a:avLst>
                <a:gd name="adj" fmla="val 21739"/>
              </a:avLst>
            </a:prstGeom>
            <a:solidFill>
              <a:srgbClr val="C08A3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90620" y="1846898"/>
              <a:ext cx="17141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9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515237" y="1766411"/>
              <a:ext cx="171939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F3864"/>
                  </a:solidFill>
                  <a:latin typeface="Microsoft YaHei"/>
                  <a:ea typeface="Microsoft YaHei"/>
                  <a:cs typeface="Microsoft YaHei"/>
                </a:rPr>
                <a:t>计算与推理分离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17904" y="2232660"/>
              <a:ext cx="379293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472"/>
                  </a:solidFill>
                  <a:latin typeface="Microsoft YaHei"/>
                  <a:ea typeface="Microsoft YaHei"/>
                  <a:cs typeface="Microsoft YaHei"/>
                </a:rPr>
                <a:t>财务指标用代码精确计算，LLM 只做归因与表达，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17904" y="251841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472"/>
                  </a:solidFill>
                  <a:latin typeface="Microsoft YaHei"/>
                  <a:ea typeface="Microsoft YaHei"/>
                  <a:cs typeface="Microsoft YaHei"/>
                </a:rPr>
                <a:t>避免大模型「算错数」。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191250" y="1428750"/>
            <a:ext cx="5429250" cy="2286000"/>
            <a:chOff x="6191250" y="1428750"/>
            <a:chExt cx="5429250" cy="2286000"/>
          </a:xfrm>
        </p:grpSpPr>
        <p:sp>
          <p:nvSpPr>
            <p:cNvPr id="13" name="Rectangle 13"/>
            <p:cNvSpPr/>
            <p:nvPr/>
          </p:nvSpPr>
          <p:spPr>
            <a:xfrm>
              <a:off x="6191250" y="1428750"/>
              <a:ext cx="5429250" cy="2286000"/>
            </a:xfrm>
            <a:prstGeom prst="roundRect">
              <a:avLst>
                <a:gd name="adj" fmla="val 5833"/>
              </a:avLst>
            </a:prstGeom>
            <a:solidFill>
              <a:srgbClr val="F4F6FA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6477000" y="1762125"/>
              <a:ext cx="438150" cy="438150"/>
            </a:xfrm>
            <a:prstGeom prst="roundRect">
              <a:avLst>
                <a:gd name="adj" fmla="val 21739"/>
              </a:avLst>
            </a:prstGeom>
            <a:solidFill>
              <a:srgbClr val="C08A3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610370" y="1846898"/>
              <a:ext cx="17141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9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34987" y="1766411"/>
              <a:ext cx="171939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F3864"/>
                  </a:solidFill>
                  <a:latin typeface="Microsoft YaHei"/>
                  <a:ea typeface="Microsoft YaHei"/>
                  <a:cs typeface="Microsoft YaHei"/>
                </a:rPr>
                <a:t>可解释风险研判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137654" y="2232660"/>
              <a:ext cx="27584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472"/>
                  </a:solidFill>
                  <a:latin typeface="Microsoft YaHei"/>
                  <a:ea typeface="Microsoft YaHei"/>
                  <a:cs typeface="Microsoft YaHei"/>
                </a:rPr>
                <a:t>每一条风险提示都携带可追溯证据链，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137654" y="251841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472"/>
                  </a:solidFill>
                  <a:latin typeface="Microsoft YaHei"/>
                  <a:ea typeface="Microsoft YaHei"/>
                  <a:cs typeface="Microsoft YaHei"/>
                </a:rPr>
                <a:t>而非「黑盒打分」。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4000500"/>
            <a:ext cx="5429250" cy="2286000"/>
            <a:chOff x="571500" y="4000500"/>
            <a:chExt cx="5429250" cy="2286000"/>
          </a:xfrm>
        </p:grpSpPr>
        <p:sp>
          <p:nvSpPr>
            <p:cNvPr id="20" name="Rectangle 20"/>
            <p:cNvSpPr/>
            <p:nvPr/>
          </p:nvSpPr>
          <p:spPr>
            <a:xfrm>
              <a:off x="571500" y="4000500"/>
              <a:ext cx="5429250" cy="2286000"/>
            </a:xfrm>
            <a:prstGeom prst="roundRect">
              <a:avLst>
                <a:gd name="adj" fmla="val 5833"/>
              </a:avLst>
            </a:prstGeom>
            <a:solidFill>
              <a:srgbClr val="F4F6F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857250" y="4333875"/>
              <a:ext cx="438150" cy="438150"/>
            </a:xfrm>
            <a:prstGeom prst="roundRect">
              <a:avLst>
                <a:gd name="adj" fmla="val 21739"/>
              </a:avLst>
            </a:prstGeom>
            <a:solidFill>
              <a:srgbClr val="C08A3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90620" y="4418648"/>
              <a:ext cx="17141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9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515237" y="4338161"/>
              <a:ext cx="272835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F3864"/>
                  </a:solidFill>
                  <a:latin typeface="Microsoft YaHei"/>
                  <a:ea typeface="Microsoft YaHei"/>
                  <a:cs typeface="Microsoft YaHei"/>
                </a:rPr>
                <a:t>可配置规则库 + 行业基准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517904" y="480441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472"/>
                  </a:solidFill>
                  <a:latin typeface="Microsoft YaHei"/>
                  <a:ea typeface="Microsoft YaHei"/>
                  <a:cs typeface="Microsoft YaHei"/>
                </a:rPr>
                <a:t>经验规则化、规则开源化，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517904" y="509016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472"/>
                  </a:solidFill>
                  <a:latin typeface="Microsoft YaHei"/>
                  <a:ea typeface="Microsoft YaHei"/>
                  <a:cs typeface="Microsoft YaHei"/>
                </a:rPr>
                <a:t>支持按行业、按机构扩展。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191250" y="4000500"/>
            <a:ext cx="5429250" cy="2286000"/>
            <a:chOff x="6191250" y="4000500"/>
            <a:chExt cx="5429250" cy="2286000"/>
          </a:xfrm>
        </p:grpSpPr>
        <p:sp>
          <p:nvSpPr>
            <p:cNvPr id="27" name="Rectangle 27"/>
            <p:cNvSpPr/>
            <p:nvPr/>
          </p:nvSpPr>
          <p:spPr>
            <a:xfrm>
              <a:off x="6191250" y="4000500"/>
              <a:ext cx="5429250" cy="2286000"/>
            </a:xfrm>
            <a:prstGeom prst="roundRect">
              <a:avLst>
                <a:gd name="adj" fmla="val 5833"/>
              </a:avLst>
            </a:prstGeom>
            <a:solidFill>
              <a:srgbClr val="F4F6F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0" y="4333875"/>
              <a:ext cx="438150" cy="438150"/>
            </a:xfrm>
            <a:prstGeom prst="roundRect">
              <a:avLst>
                <a:gd name="adj" fmla="val 21739"/>
              </a:avLst>
            </a:prstGeom>
            <a:solidFill>
              <a:srgbClr val="C08A3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610370" y="4418648"/>
              <a:ext cx="17141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9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134987" y="4338161"/>
              <a:ext cx="171939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F3864"/>
                  </a:solidFill>
                  <a:latin typeface="Microsoft YaHei"/>
                  <a:ea typeface="Microsoft YaHei"/>
                  <a:cs typeface="Microsoft YaHei"/>
                </a:rPr>
                <a:t>双通道资料理解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137654" y="4804410"/>
              <a:ext cx="207751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472"/>
                  </a:solidFill>
                  <a:latin typeface="Microsoft YaHei"/>
                  <a:ea typeface="Microsoft YaHei"/>
                  <a:cs typeface="Microsoft YaHei"/>
                </a:rPr>
                <a:t>文本 + 视觉，覆盖普通 PDF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137654" y="509016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472"/>
                  </a:solidFill>
                  <a:latin typeface="Microsoft YaHei"/>
                  <a:ea typeface="Microsoft YaHei"/>
                  <a:cs typeface="Microsoft YaHei"/>
                </a:rPr>
                <a:t>与扫描件。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71500" y="476250"/>
            <a:ext cx="2310176" cy="651034"/>
            <a:chOff x="571500" y="476250"/>
            <a:chExt cx="2310176" cy="651034"/>
          </a:xfrm>
        </p:grpSpPr>
        <p:sp>
          <p:nvSpPr>
            <p:cNvPr id="2" name="Rectangle 2"/>
            <p:cNvSpPr/>
            <p:nvPr/>
          </p:nvSpPr>
          <p:spPr>
            <a:xfrm>
              <a:off x="571500" y="476250"/>
              <a:ext cx="57150" cy="381000"/>
            </a:xfrm>
            <a:prstGeom prst="rect">
              <a:avLst/>
            </a:prstGeom>
            <a:solidFill>
              <a:srgbClr val="C08A3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8858" y="521970"/>
              <a:ext cx="205983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F3864"/>
                  </a:solidFill>
                  <a:latin typeface="Microsoft YaHei"/>
                  <a:ea typeface="Microsoft YaHei"/>
                  <a:cs typeface="Microsoft YaHei"/>
                </a:rPr>
                <a:t>真实数据验证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5335" y="907256"/>
              <a:ext cx="21063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8A94A6"/>
                  </a:solidFill>
                  <a:latin typeface="Microsoft YaHei"/>
                  <a:ea typeface="Microsoft YaHei"/>
                  <a:cs typeface="Microsoft YaHei"/>
                </a:rPr>
                <a:t>已在两份 A 股年报跑通全流程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762000" y="1524000"/>
            <a:ext cx="10668000" cy="495300"/>
            <a:chOff x="762000" y="1524000"/>
            <a:chExt cx="10668000" cy="495300"/>
          </a:xfrm>
        </p:grpSpPr>
        <p:sp>
          <p:nvSpPr>
            <p:cNvPr id="6" name="Rectangle 6"/>
            <p:cNvSpPr/>
            <p:nvPr/>
          </p:nvSpPr>
          <p:spPr>
            <a:xfrm>
              <a:off x="762000" y="1524000"/>
              <a:ext cx="10668000" cy="4953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136142" y="1702118"/>
              <a:ext cx="3953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标的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469892" y="1702118"/>
              <a:ext cx="3953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行业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184392" y="1702118"/>
              <a:ext cx="11586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综合风险等级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279892" y="1702118"/>
              <a:ext cx="11586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命中关键风险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762000" y="2019300"/>
            <a:ext cx="10668000" cy="704850"/>
            <a:chOff x="762000" y="2019300"/>
            <a:chExt cx="10668000" cy="704850"/>
          </a:xfrm>
        </p:grpSpPr>
        <p:sp>
          <p:nvSpPr>
            <p:cNvPr id="12" name="Rectangle 12"/>
            <p:cNvSpPr/>
            <p:nvPr/>
          </p:nvSpPr>
          <p:spPr>
            <a:xfrm>
              <a:off x="762000" y="2019300"/>
              <a:ext cx="10668000" cy="704850"/>
            </a:xfrm>
            <a:prstGeom prst="rect">
              <a:avLst/>
            </a:prstGeom>
            <a:solidFill>
              <a:srgbClr val="F4F6F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136523" y="2319814"/>
              <a:ext cx="191271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3864"/>
                  </a:solidFill>
                  <a:latin typeface="Microsoft YaHei"/>
                  <a:ea typeface="Microsoft YaHei"/>
                  <a:cs typeface="Microsoft YaHei"/>
                </a:rPr>
                <a:t>贵州茅台（2024 年报）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470654" y="232791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A5464"/>
                  </a:solidFill>
                  <a:latin typeface="Microsoft YaHei"/>
                  <a:ea typeface="Microsoft YaHei"/>
                  <a:cs typeface="Microsoft YaHei"/>
                </a:rPr>
                <a:t>白酒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91250" y="2219325"/>
              <a:ext cx="857250" cy="304800"/>
            </a:xfrm>
            <a:prstGeom prst="roundRect">
              <a:avLst>
                <a:gd name="adj" fmla="val 50000"/>
              </a:avLst>
            </a:prstGeom>
            <a:solidFill>
              <a:srgbClr val="2E8B57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59347" y="2299335"/>
              <a:ext cx="5210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低风险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281035" y="233600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rPr>
                <a:t>未命中显著规则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762000" y="2724150"/>
            <a:ext cx="10668000" cy="819150"/>
            <a:chOff x="762000" y="2724150"/>
            <a:chExt cx="10668000" cy="819150"/>
          </a:xfrm>
        </p:grpSpPr>
        <p:sp>
          <p:nvSpPr>
            <p:cNvPr id="19" name="Rectangle 19"/>
            <p:cNvSpPr/>
            <p:nvPr/>
          </p:nvSpPr>
          <p:spPr>
            <a:xfrm>
              <a:off x="762000" y="2724150"/>
              <a:ext cx="10668000" cy="81915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136523" y="3005614"/>
              <a:ext cx="18003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3864"/>
                  </a:solidFill>
                  <a:latin typeface="Microsoft YaHei"/>
                  <a:ea typeface="Microsoft YaHei"/>
                  <a:cs typeface="Microsoft YaHei"/>
                </a:rPr>
                <a:t>万科 A（2024 年报）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470654" y="301371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A5464"/>
                  </a:solidFill>
                  <a:latin typeface="Microsoft YaHei"/>
                  <a:ea typeface="Microsoft YaHei"/>
                  <a:cs typeface="Microsoft YaHei"/>
                </a:rPr>
                <a:t>房地产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191250" y="2981325"/>
              <a:ext cx="857250" cy="304800"/>
            </a:xfrm>
            <a:prstGeom prst="roundRect">
              <a:avLst>
                <a:gd name="adj" fmla="val 50000"/>
              </a:avLst>
            </a:prstGeom>
            <a:solidFill>
              <a:srgbClr val="C03030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59347" y="3061335"/>
              <a:ext cx="5210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高风险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281035" y="3021806"/>
              <a:ext cx="1860550" cy="4486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12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rPr>
                <a:t>经营亏损、利息保障倍数过低</a:t>
              </a:r>
              <a:br/>
              <a:r>
                <a:rPr lang="zh-CN" sz="112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rPr>
                <a:t>毛利率下滑、营收负增长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54761" y="4037171"/>
            <a:ext cx="8199349" cy="1687735"/>
            <a:chOff x="754761" y="4037171"/>
            <a:chExt cx="8199349" cy="1687735"/>
          </a:xfrm>
        </p:grpSpPr>
        <p:sp>
          <p:nvSpPr>
            <p:cNvPr id="26" name="TextBox 26"/>
            <p:cNvSpPr txBox="1"/>
            <p:nvPr/>
          </p:nvSpPr>
          <p:spPr>
            <a:xfrm>
              <a:off x="754761" y="4037171"/>
              <a:ext cx="81735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3864"/>
                  </a:solidFill>
                  <a:latin typeface="Microsoft YaHei"/>
                  <a:ea typeface="Microsoft YaHei"/>
                  <a:cs typeface="Microsoft YaHei"/>
                </a:rPr>
                <a:t>验证要点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55904" y="4461510"/>
              <a:ext cx="81982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29540" indent="-129540">
                <a:buClr>
                  <a:srgbClr val="4A5464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rgbClr val="4A5464"/>
                  </a:solidFill>
                  <a:latin typeface="Microsoft YaHei"/>
                  <a:ea typeface="Microsoft YaHei"/>
                  <a:cs typeface="Microsoft YaHei"/>
                </a:rPr>
                <a:t>指标准确性：茅台毛利率 91.9%、净利率 52.3%、ROE 36.9%；万科净利润 -487 亿、营收同比 -26.3%。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55904" y="4804410"/>
              <a:ext cx="81704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29540" indent="-129540">
                <a:buClr>
                  <a:srgbClr val="4A5464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rgbClr val="4A5464"/>
                  </a:solidFill>
                  <a:latin typeface="Microsoft YaHei"/>
                  <a:ea typeface="Microsoft YaHei"/>
                  <a:cs typeface="Microsoft YaHei"/>
                </a:rPr>
                <a:t>行业基准生效：万科资产负债率 73.7%，在房地产 85% 参考线内不误报，仍因经营亏损、营收下滑判为高风险。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55904" y="5147310"/>
              <a:ext cx="75727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29540" indent="-129540">
                <a:buClr>
                  <a:srgbClr val="4A5464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rgbClr val="4A5464"/>
                  </a:solidFill>
                  <a:latin typeface="Microsoft YaHei"/>
                  <a:ea typeface="Microsoft YaHei"/>
                  <a:cs typeface="Microsoft YaHei"/>
                </a:rPr>
                <a:t>规则库覆盖：8 大类 13+ 条规则，含行业基准（房地产 85% / 建筑 80% / 白酒食品 50% / 金融豁免）。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5904" y="5490210"/>
              <a:ext cx="57599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29540" indent="-129540">
                <a:buClr>
                  <a:srgbClr val="4A5464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rgbClr val="4A5464"/>
                  </a:solidFill>
                  <a:latin typeface="Microsoft YaHei"/>
                  <a:ea typeface="Microsoft YaHei"/>
                  <a:cs typeface="Microsoft YaHei"/>
                </a:rPr>
                <a:t>计算与推理分离：指标纯 Python 计算，规则引擎支持 --no-llm 纯规则模式。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71500" y="476250"/>
            <a:ext cx="2935681" cy="651034"/>
            <a:chOff x="571500" y="476250"/>
            <a:chExt cx="2935681" cy="651034"/>
          </a:xfrm>
        </p:grpSpPr>
        <p:sp>
          <p:nvSpPr>
            <p:cNvPr id="2" name="Rectangle 2"/>
            <p:cNvSpPr/>
            <p:nvPr/>
          </p:nvSpPr>
          <p:spPr>
            <a:xfrm>
              <a:off x="571500" y="476250"/>
              <a:ext cx="57150" cy="381000"/>
            </a:xfrm>
            <a:prstGeom prst="rect">
              <a:avLst/>
            </a:prstGeom>
            <a:solidFill>
              <a:srgbClr val="C08A3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8858" y="521970"/>
              <a:ext cx="2738323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F3864"/>
                  </a:solidFill>
                  <a:latin typeface="Microsoft YaHei"/>
                  <a:ea typeface="Microsoft YaHei"/>
                  <a:cs typeface="Microsoft YaHei"/>
                </a:rPr>
                <a:t>合规、开放与迭代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75335" y="907256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8A94A6"/>
                  </a:solidFill>
                  <a:latin typeface="Microsoft YaHei"/>
                  <a:ea typeface="Microsoft YaHei"/>
                  <a:cs typeface="Microsoft YaHei"/>
                </a:rPr>
                <a:t>边界清晰 · 可复用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63118" y="1707832"/>
            <a:ext cx="3954018" cy="1750124"/>
            <a:chOff x="563118" y="1707832"/>
            <a:chExt cx="3954018" cy="1750124"/>
          </a:xfrm>
        </p:grpSpPr>
        <p:sp>
          <p:nvSpPr>
            <p:cNvPr id="6" name="TextBox 6"/>
            <p:cNvSpPr txBox="1"/>
            <p:nvPr/>
          </p:nvSpPr>
          <p:spPr>
            <a:xfrm>
              <a:off x="563118" y="1707832"/>
              <a:ext cx="11829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3864"/>
                  </a:solidFill>
                  <a:latin typeface="Microsoft YaHei"/>
                  <a:ea typeface="Microsoft YaHei"/>
                  <a:cs typeface="Microsoft YaHei"/>
                </a:rPr>
                <a:t>数据与合规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65404" y="2251710"/>
              <a:ext cx="3951732" cy="12062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29540" indent="-129540">
                <a:lnSpc>
                  <a:spcPts val="2550"/>
                </a:lnSpc>
                <a:buClr>
                  <a:srgbClr val="4A5464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rgbClr val="4A5464"/>
                  </a:solidFill>
                  <a:latin typeface="Microsoft YaHei"/>
                  <a:ea typeface="Microsoft YaHei"/>
                  <a:cs typeface="Microsoft YaHei"/>
                </a:rPr>
                <a:t>数据来源：公开上市公司财报，无隐私门槛</a:t>
              </a:r>
            </a:p>
            <a:p>
              <a:pPr algn="l" marL="129540" indent="-129540">
                <a:lnSpc>
                  <a:spcPts val="2550"/>
                </a:lnSpc>
                <a:buClr>
                  <a:srgbClr val="4A5464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rgbClr val="4A5464"/>
                  </a:solidFill>
                  <a:latin typeface="Microsoft YaHei"/>
                  <a:ea typeface="Microsoft YaHei"/>
                  <a:cs typeface="Microsoft YaHei"/>
                </a:rPr>
                <a:t>隐私保护：数据本地处理，不向第三方传原始材料</a:t>
              </a:r>
            </a:p>
            <a:p>
              <a:pPr algn="l" marL="129540" indent="-129540">
                <a:lnSpc>
                  <a:spcPts val="2550"/>
                </a:lnSpc>
                <a:buClr>
                  <a:srgbClr val="4A5464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rgbClr val="4A5464"/>
                  </a:solidFill>
                  <a:latin typeface="Microsoft YaHei"/>
                  <a:ea typeface="Microsoft YaHei"/>
                  <a:cs typeface="Microsoft YaHei"/>
                </a:rPr>
                <a:t>风险提示：报告标注「仅供研究参考，不构成投资建议」</a:t>
              </a:r>
            </a:p>
            <a:p>
              <a:pPr algn="l" marL="129540" indent="-129540">
                <a:lnSpc>
                  <a:spcPts val="2550"/>
                </a:lnSpc>
                <a:buClr>
                  <a:srgbClr val="4A5464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rgbClr val="4A5464"/>
                  </a:solidFill>
                  <a:latin typeface="Microsoft YaHei"/>
                  <a:ea typeface="Microsoft YaHei"/>
                  <a:cs typeface="Microsoft YaHei"/>
                </a:rPr>
                <a:t>行业边界：定位「尽调初筛辅助」，最终判断由团队完成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182868" y="1707832"/>
            <a:ext cx="3390138" cy="1750124"/>
            <a:chOff x="6182868" y="1707832"/>
            <a:chExt cx="3390138" cy="1750124"/>
          </a:xfrm>
        </p:grpSpPr>
        <p:sp>
          <p:nvSpPr>
            <p:cNvPr id="9" name="TextBox 9"/>
            <p:cNvSpPr txBox="1"/>
            <p:nvPr/>
          </p:nvSpPr>
          <p:spPr>
            <a:xfrm>
              <a:off x="6182868" y="1707832"/>
              <a:ext cx="16493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3864"/>
                  </a:solidFill>
                  <a:latin typeface="Microsoft YaHei"/>
                  <a:ea typeface="Microsoft YaHei"/>
                  <a:cs typeface="Microsoft YaHei"/>
                </a:rPr>
                <a:t>开放复用与迭代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185154" y="2251710"/>
              <a:ext cx="3387852" cy="12062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29540" indent="-129540">
                <a:lnSpc>
                  <a:spcPts val="2550"/>
                </a:lnSpc>
                <a:buClr>
                  <a:srgbClr val="4A5464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rgbClr val="4A5464"/>
                  </a:solidFill>
                  <a:latin typeface="Microsoft YaHei"/>
                  <a:ea typeface="Microsoft YaHei"/>
                  <a:cs typeface="Microsoft YaHei"/>
                </a:rPr>
                <a:t>代码、规则库、抽取 Schema 开源</a:t>
              </a:r>
            </a:p>
            <a:p>
              <a:pPr algn="l" marL="129540" indent="-129540">
                <a:lnSpc>
                  <a:spcPts val="2550"/>
                </a:lnSpc>
                <a:buClr>
                  <a:srgbClr val="4A5464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rgbClr val="4A5464"/>
                  </a:solidFill>
                  <a:latin typeface="Microsoft YaHei"/>
                  <a:ea typeface="Microsoft YaHei"/>
                  <a:cs typeface="Microsoft YaHei"/>
                </a:rPr>
                <a:t>指标计算 / 规则引擎 / 报告模板抽为可复用组件</a:t>
              </a:r>
            </a:p>
            <a:p>
              <a:pPr algn="l" marL="129540" indent="-129540">
                <a:lnSpc>
                  <a:spcPts val="2550"/>
                </a:lnSpc>
                <a:buClr>
                  <a:srgbClr val="4A5464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rgbClr val="4A5464"/>
                  </a:solidFill>
                  <a:latin typeface="Microsoft YaHei"/>
                  <a:ea typeface="Microsoft YaHei"/>
                  <a:cs typeface="Microsoft YaHei"/>
                </a:rPr>
                <a:t>初赛：验证场景价值</a:t>
              </a:r>
            </a:p>
            <a:p>
              <a:pPr algn="l" marL="129540" indent="-129540">
                <a:lnSpc>
                  <a:spcPts val="2550"/>
                </a:lnSpc>
                <a:buClr>
                  <a:srgbClr val="4A5464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rgbClr val="4A5464"/>
                  </a:solidFill>
                  <a:latin typeface="Microsoft YaHei"/>
                  <a:ea typeface="Microsoft YaHei"/>
                  <a:cs typeface="Microsoft YaHei"/>
                </a:rPr>
                <a:t>复赛：可运行 Demo → 决赛：现场路演答辩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571500" y="5334000"/>
            <a:ext cx="11049000" cy="1047750"/>
            <a:chOff x="571500" y="5334000"/>
            <a:chExt cx="11049000" cy="1047750"/>
          </a:xfrm>
        </p:grpSpPr>
        <p:sp>
          <p:nvSpPr>
            <p:cNvPr id="12" name="Rectangle 12"/>
            <p:cNvSpPr/>
            <p:nvPr/>
          </p:nvSpPr>
          <p:spPr>
            <a:xfrm>
              <a:off x="571500" y="5334000"/>
              <a:ext cx="11049000" cy="1047750"/>
            </a:xfrm>
            <a:prstGeom prst="roundRect">
              <a:avLst>
                <a:gd name="adj" fmla="val 14545"/>
              </a:avLst>
            </a:prstGeom>
            <a:solidFill>
              <a:srgbClr val="1F3864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2895625" y="5599748"/>
              <a:ext cx="640075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9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明鉴 · 让每一份财报的风险都可见、可解释、可追溯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808703" y="6050756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9FB3D0"/>
                  </a:solidFill>
                  <a:latin typeface="Microsoft YaHei"/>
                  <a:ea typeface="Microsoft YaHei"/>
                  <a:cs typeface="Microsoft YaHei"/>
                </a:rPr>
                <a:t>本工具仅供研究参考，不构成投资建议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ingjian_hq">
  <a:themeElements>
    <a:clrScheme name="mingjian_hq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mingjian_hq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ingjian_hq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2026-08-13T13:28:37Z</dcterms:created>
  <dcterms:modified xsi:type="dcterms:W3CDTF">2026-08-13T13:28:37Z</dcterms:modified>
  <cp:category/>
  <cp:contentStatus/>
</cp:coreProperties>
</file>